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Insights into MediConn's Website Performance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strive to ensure our digital platform's accessibility and user-friendliness, it's critical to monitor and assess our website's performance. This presentation will provide a comprehensive overview of the recent changes in our website's performance metrics.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Overview of Virtual Healthcare Market Trends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Virtual healthcare market expected to grow by 30% over the next five years globally</a:t>
            </a:r>
          </a:p>
          <a:p>
            <a:pPr>
              <a:spcAft>
                <a:spcPts val="400"/>
              </a:spcAft>
              <a:defRPr sz="1600">
                <a:solidFill>
                  <a:srgbClr val="404040"/>
                </a:solidFill>
              </a:defRPr>
            </a:pPr>
            <a:r>
              <a:t>North America remains the leading region in virtual healthcare adoption</a:t>
            </a:r>
          </a:p>
          <a:p>
            <a:pPr>
              <a:spcAft>
                <a:spcPts val="400"/>
              </a:spcAft>
              <a:defRPr sz="1600">
                <a:solidFill>
                  <a:srgbClr val="FF8243"/>
                </a:solidFill>
              </a:defRPr>
            </a:pPr>
            <a:r>
              <a:t>Telehealth services experienced a surge during the COVID-19 pandemic</a:t>
            </a:r>
          </a:p>
          <a:p>
            <a:pPr>
              <a:spcAft>
                <a:spcPts val="400"/>
              </a:spcAft>
              <a:defRPr sz="1600">
                <a:solidFill>
                  <a:srgbClr val="404040"/>
                </a:solidFill>
              </a:defRPr>
            </a:pPr>
            <a:r>
              <a:t>Increased demand for remote patient monitoring systems</a:t>
            </a:r>
          </a:p>
          <a:p>
            <a:pPr>
              <a:spcAft>
                <a:spcPts val="400"/>
              </a:spcAft>
              <a:defRPr sz="1600">
                <a:solidFill>
                  <a:srgbClr val="404040"/>
                </a:solidFill>
              </a:defRPr>
            </a:pPr>
            <a:r>
              <a:t>Rise in the number of smartphone users boosting the mHealth market</a:t>
            </a:r>
          </a:p>
          <a:p>
            <a:pPr>
              <a:spcAft>
                <a:spcPts val="400"/>
              </a:spcAft>
              <a:defRPr sz="1600">
                <a:solidFill>
                  <a:srgbClr val="FF8243"/>
                </a:solidFill>
              </a:defRPr>
            </a:pPr>
            <a:r>
              <a:t>Regulatory changes in telemedicine are speeding up the market growth</a:t>
            </a:r>
          </a:p>
          <a:p>
            <a:pPr>
              <a:spcAft>
                <a:spcPts val="400"/>
              </a:spcAft>
              <a:defRPr sz="1600">
                <a:solidFill>
                  <a:srgbClr val="404040"/>
                </a:solidFill>
              </a:defRPr>
            </a:pPr>
            <a:r>
              <a:t>Increased investment in AI and machine learning in healthcare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Analysis of MediConn's User Engagement Metrics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Average session duration of users on the platform has increased by 15% in Q2</a:t>
            </a:r>
          </a:p>
          <a:p>
            <a:pPr>
              <a:spcAft>
                <a:spcPts val="400"/>
              </a:spcAft>
              <a:defRPr sz="1600">
                <a:solidFill>
                  <a:srgbClr val="404040"/>
                </a:solidFill>
              </a:defRPr>
            </a:pPr>
            <a:r>
              <a:t>60% of users accessed the platform through mobile devices</a:t>
            </a:r>
          </a:p>
          <a:p>
            <a:pPr>
              <a:spcAft>
                <a:spcPts val="400"/>
              </a:spcAft>
              <a:defRPr sz="1600">
                <a:solidFill>
                  <a:srgbClr val="FF8243"/>
                </a:solidFill>
              </a:defRPr>
            </a:pPr>
            <a:r>
              <a:t>User churn rate has decreased by 10% in the last six months</a:t>
            </a:r>
          </a:p>
          <a:p>
            <a:pPr>
              <a:spcAft>
                <a:spcPts val="400"/>
              </a:spcAft>
              <a:defRPr sz="1600">
                <a:solidFill>
                  <a:srgbClr val="404040"/>
                </a:solidFill>
              </a:defRPr>
            </a:pPr>
            <a:r>
              <a:t>Average number of daily active users has increased by 5% in the last quarter</a:t>
            </a:r>
          </a:p>
          <a:p>
            <a:pPr>
              <a:spcAft>
                <a:spcPts val="400"/>
              </a:spcAft>
              <a:defRPr sz="1600">
                <a:solidFill>
                  <a:srgbClr val="404040"/>
                </a:solidFill>
              </a:defRPr>
            </a:pPr>
            <a:r>
              <a:t>The user retention rate showed a consistent growth of 2% month over month</a:t>
            </a:r>
          </a:p>
          <a:p>
            <a:pPr>
              <a:spcAft>
                <a:spcPts val="400"/>
              </a:spcAft>
              <a:defRPr sz="1600">
                <a:solidFill>
                  <a:srgbClr val="FF8243"/>
                </a:solidFill>
              </a:defRPr>
            </a:pPr>
            <a:r>
              <a:t>The bounce rate shows a slight increase of 1.5% in the last month</a:t>
            </a:r>
          </a:p>
          <a:p>
            <a:pPr>
              <a:spcAft>
                <a:spcPts val="400"/>
              </a:spcAft>
              <a:defRPr sz="1600">
                <a:solidFill>
                  <a:srgbClr val="404040"/>
                </a:solidFill>
              </a:defRPr>
            </a:pPr>
            <a:r>
              <a:t>The most used feature in the application is the virtual consultation tool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Recent Changes in Website Performance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Website load time has been reduced by 20% after the last update</a:t>
            </a:r>
          </a:p>
          <a:p>
            <a:pPr>
              <a:spcAft>
                <a:spcPts val="600"/>
              </a:spcAft>
              <a:defRPr sz="1800">
                <a:solidFill>
                  <a:srgbClr val="404040"/>
                </a:solidFill>
              </a:defRPr>
            </a:pPr>
            <a:r>
              <a:t>The number of 404 errors has decreased significantly in the last quarter</a:t>
            </a:r>
          </a:p>
          <a:p>
            <a:pPr>
              <a:spcAft>
                <a:spcPts val="600"/>
              </a:spcAft>
              <a:defRPr sz="1800">
                <a:solidFill>
                  <a:srgbClr val="FF8243"/>
                </a:solidFill>
              </a:defRPr>
            </a:pPr>
            <a:r>
              <a:t>The website's security score has improved after the implementation of SSL certification</a:t>
            </a:r>
          </a:p>
          <a:p>
            <a:pPr>
              <a:spcAft>
                <a:spcPts val="600"/>
              </a:spcAft>
              <a:defRPr sz="1800">
                <a:solidFill>
                  <a:srgbClr val="404040"/>
                </a:solidFill>
              </a:defRPr>
            </a:pPr>
            <a:r>
              <a:t>The mobile version of the website has improved its performance by 15% in the last month</a:t>
            </a:r>
          </a:p>
          <a:p>
            <a:pPr>
              <a:spcAft>
                <a:spcPts val="600"/>
              </a:spcAft>
              <a:defRPr sz="1800">
                <a:solidFill>
                  <a:srgbClr val="404040"/>
                </a:solidFill>
              </a:defRPr>
            </a:pPr>
            <a:r>
              <a:t>Server downtime incidents have been reduced by 70% in the last six months</a:t>
            </a:r>
          </a:p>
          <a:p>
            <a:pPr>
              <a:spcAft>
                <a:spcPts val="600"/>
              </a:spcAft>
              <a:defRPr sz="1800">
                <a:solidFill>
                  <a:srgbClr val="FF8243"/>
                </a:solidFill>
              </a:defRPr>
            </a:pPr>
            <a:r>
              <a:t>The website's accessibility score has improved, meeting all WCAG 2.1 AA standards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Our website performance has shown significant changes, which correlate with the current virtual healthcare market trends. Moving forward, we need to focus on further optimizing the user experience and engagement on our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