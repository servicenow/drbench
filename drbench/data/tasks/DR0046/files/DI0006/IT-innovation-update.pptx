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pPr>
              <a:defRPr sz="4400" b="1">
                <a:solidFill>
                  <a:srgbClr val="00B050"/>
                </a:solidFill>
              </a:defRPr>
            </a:pPr>
            <a:r>
              <a:t>Innovation in IT: June 2025 Update</a:t>
            </a:r>
          </a:p>
        </p:txBody>
      </p:sp>
      <p:sp>
        <p:nvSpPr>
          <p:cNvPr id="3" name="Subtitle 2"/>
          <p:cNvSpPr>
            <a:spLocks noGrp="1"/>
          </p:cNvSpPr>
          <p:nvPr>
            <p:ph type="subTitle" idx="1"/>
          </p:nvPr>
        </p:nvSpPr>
        <p:spPr/>
        <p:txBody>
          <a:bodyPr/>
          <a:lstStyle/>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00B050"/>
                </a:solidFill>
              </a:defRPr>
            </a:pPr>
            <a:r>
              <a:t>Introduction</a:t>
            </a:r>
          </a:p>
        </p:txBody>
      </p:sp>
      <p:sp>
        <p:nvSpPr>
          <p:cNvPr id="3" name="Content Placeholder 2"/>
          <p:cNvSpPr>
            <a:spLocks noGrp="1"/>
          </p:cNvSpPr>
          <p:nvPr>
            <p:ph idx="1"/>
          </p:nvPr>
        </p:nvSpPr>
        <p:spPr/>
        <p:txBody>
          <a:bodyPr/>
          <a:lstStyle/>
          <a:p/>
          <a:p>
            <a:pPr>
              <a:spcAft>
                <a:spcPts val="800"/>
              </a:spcAft>
              <a:defRPr sz="1800">
                <a:solidFill>
                  <a:srgbClr val="404040"/>
                </a:solidFill>
              </a:defRPr>
            </a:pPr>
            <a:r>
              <a:t>In our continuous pursuit for excellence, our IT department has piloted a new innovation in June 2025. This presentation will highlight the details of this innovation and its potential impact on our services.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00B050"/>
                </a:solidFill>
              </a:defRPr>
            </a:pPr>
            <a:r>
              <a:t>Overview of IT Innovations in Healthcare</a:t>
            </a:r>
          </a:p>
        </p:txBody>
      </p:sp>
      <p:sp>
        <p:nvSpPr>
          <p:cNvPr id="3" name="Content Placeholder 2"/>
          <p:cNvSpPr>
            <a:spLocks noGrp="1"/>
          </p:cNvSpPr>
          <p:nvPr>
            <p:ph idx="1"/>
          </p:nvPr>
        </p:nvSpPr>
        <p:spPr>
          <a:xfrm>
            <a:off x="457200" y="1828800"/>
            <a:ext cx="4114800" cy="3657600"/>
          </a:xfrm>
        </p:spPr>
        <p:txBody>
          <a:bodyPr/>
          <a:lstStyle/>
          <a:p/>
          <a:p>
            <a:pPr>
              <a:spcAft>
                <a:spcPts val="400"/>
              </a:spcAft>
              <a:defRPr sz="1600">
                <a:solidFill>
                  <a:srgbClr val="404040"/>
                </a:solidFill>
              </a:defRPr>
            </a:pPr>
            <a:r>
              <a:t>Implementation of artificial intelligence in telemedicine platforms to predict patient health outcomes</a:t>
            </a:r>
          </a:p>
          <a:p>
            <a:pPr>
              <a:spcAft>
                <a:spcPts val="400"/>
              </a:spcAft>
              <a:defRPr sz="1600">
                <a:solidFill>
                  <a:srgbClr val="404040"/>
                </a:solidFill>
              </a:defRPr>
            </a:pPr>
            <a:r>
              <a:t>Utilization of blockchain technology for secure and tamper-proof patient data storage</a:t>
            </a:r>
          </a:p>
          <a:p>
            <a:pPr>
              <a:spcAft>
                <a:spcPts val="400"/>
              </a:spcAft>
              <a:defRPr sz="1600">
                <a:solidFill>
                  <a:srgbClr val="FF8243"/>
                </a:solidFill>
              </a:defRPr>
            </a:pPr>
            <a:r>
              <a:t>Emergence of IoT devices for remote patient monitoring and personalized care</a:t>
            </a:r>
          </a:p>
          <a:p>
            <a:pPr>
              <a:spcAft>
                <a:spcPts val="400"/>
              </a:spcAft>
              <a:defRPr sz="1600">
                <a:solidFill>
                  <a:srgbClr val="404040"/>
                </a:solidFill>
              </a:defRPr>
            </a:pPr>
            <a:r>
              <a:t>Use of cloud computing to enhance data accessibility and interoperability</a:t>
            </a:r>
          </a:p>
          <a:p>
            <a:pPr>
              <a:spcAft>
                <a:spcPts val="400"/>
              </a:spcAft>
              <a:defRPr sz="1600">
                <a:solidFill>
                  <a:srgbClr val="404040"/>
                </a:solidFill>
              </a:defRPr>
            </a:pPr>
            <a:r>
              <a:t>Rise in the use of augmented and virtual reality for patient education and training of medical professionals</a:t>
            </a:r>
          </a:p>
          <a:p>
            <a:pPr>
              <a:spcAft>
                <a:spcPts val="400"/>
              </a:spcAft>
              <a:defRPr sz="1600">
                <a:solidFill>
                  <a:srgbClr val="FF8243"/>
                </a:solidFill>
              </a:defRPr>
            </a:pPr>
            <a:r>
              <a:t>Deployment of machine learning algorithms for efficient patient triage and diagnosis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00B050"/>
                </a:solidFill>
              </a:defRPr>
            </a:pPr>
            <a:r>
              <a:t>Details of MediConn's Recent IT Pilot</a:t>
            </a:r>
          </a:p>
        </p:txBody>
      </p:sp>
      <p:sp>
        <p:nvSpPr>
          <p:cNvPr id="3" name="Content Placeholder 2"/>
          <p:cNvSpPr>
            <a:spLocks noGrp="1"/>
          </p:cNvSpPr>
          <p:nvPr>
            <p:ph idx="1"/>
          </p:nvPr>
        </p:nvSpPr>
        <p:spPr/>
        <p:txBody>
          <a:bodyPr/>
          <a:lstStyle/>
          <a:p/>
          <a:p>
            <a:pPr>
              <a:spcAft>
                <a:spcPts val="600"/>
              </a:spcAft>
              <a:defRPr sz="1800">
                <a:solidFill>
                  <a:srgbClr val="404040"/>
                </a:solidFill>
              </a:defRPr>
            </a:pPr>
            <a:r>
              <a:t>Conducted a pilot program on AI-enabled chatbots for 24/7 patient support</a:t>
            </a:r>
          </a:p>
          <a:p>
            <a:pPr>
              <a:spcAft>
                <a:spcPts val="600"/>
              </a:spcAft>
              <a:defRPr sz="1800">
                <a:solidFill>
                  <a:srgbClr val="404040"/>
                </a:solidFill>
              </a:defRPr>
            </a:pPr>
            <a:r>
              <a:t>150 patients participated in the initial trial phase</a:t>
            </a:r>
          </a:p>
          <a:p>
            <a:pPr>
              <a:spcAft>
                <a:spcPts val="600"/>
              </a:spcAft>
              <a:defRPr sz="1800">
                <a:solidFill>
                  <a:srgbClr val="FF8243"/>
                </a:solidFill>
              </a:defRPr>
            </a:pPr>
            <a:r>
              <a:t>Launched the pilot in partnership with a leading AI development company</a:t>
            </a:r>
          </a:p>
          <a:p>
            <a:pPr>
              <a:spcAft>
                <a:spcPts val="600"/>
              </a:spcAft>
              <a:defRPr sz="1800">
                <a:solidFill>
                  <a:srgbClr val="404040"/>
                </a:solidFill>
              </a:defRPr>
            </a:pPr>
            <a:r>
              <a:t>The pilot program aimed to reduce response time for patient queries</a:t>
            </a:r>
          </a:p>
          <a:p>
            <a:pPr>
              <a:spcAft>
                <a:spcPts val="600"/>
              </a:spcAft>
              <a:defRPr sz="1800">
                <a:solidFill>
                  <a:srgbClr val="404040"/>
                </a:solidFill>
              </a:defRPr>
            </a:pPr>
            <a:r>
              <a:t>IT and customer service departments collaborated for the pilot's execution</a:t>
            </a:r>
          </a:p>
          <a:p>
            <a:pPr>
              <a:spcAft>
                <a:spcPts val="600"/>
              </a:spcAft>
              <a:defRPr sz="1800">
                <a:solidFill>
                  <a:srgbClr val="FF8243"/>
                </a:solidFill>
              </a:defRPr>
            </a:pPr>
            <a:r>
              <a:t>Based on the pilot, plans are underway to refine the chatbot's machine learning algorithms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00B050"/>
                </a:solidFill>
              </a:defRPr>
            </a:pPr>
            <a:r>
              <a:t>Potential Impact and Future Plans</a:t>
            </a:r>
          </a:p>
        </p:txBody>
      </p:sp>
      <p:sp>
        <p:nvSpPr>
          <p:cNvPr id="3" name="Content Placeholder 2"/>
          <p:cNvSpPr>
            <a:spLocks noGrp="1"/>
          </p:cNvSpPr>
          <p:nvPr>
            <p:ph idx="1"/>
          </p:nvPr>
        </p:nvSpPr>
        <p:spPr/>
        <p:txBody>
          <a:bodyPr/>
          <a:lstStyle/>
          <a:p/>
          <a:p>
            <a:pPr>
              <a:spcAft>
                <a:spcPts val="600"/>
              </a:spcAft>
              <a:defRPr sz="1800">
                <a:solidFill>
                  <a:srgbClr val="404040"/>
                </a:solidFill>
              </a:defRPr>
            </a:pPr>
            <a:r>
              <a:t>AI-chatbot program expected to reduce response time by 30%</a:t>
            </a:r>
          </a:p>
          <a:p>
            <a:pPr>
              <a:spcAft>
                <a:spcPts val="600"/>
              </a:spcAft>
              <a:defRPr sz="1800">
                <a:solidFill>
                  <a:srgbClr val="404040"/>
                </a:solidFill>
              </a:defRPr>
            </a:pPr>
            <a:r>
              <a:t>Future plans include integrating the chatbot with the main telemedicine platform</a:t>
            </a:r>
          </a:p>
          <a:p>
            <a:pPr>
              <a:spcAft>
                <a:spcPts val="600"/>
              </a:spcAft>
              <a:defRPr sz="1800">
                <a:solidFill>
                  <a:srgbClr val="FF8243"/>
                </a:solidFill>
              </a:defRPr>
            </a:pPr>
            <a:r>
              <a:t>Anticipate an increase in patient satisfaction rates due to the chatbot's 24/7 availability</a:t>
            </a:r>
          </a:p>
          <a:p>
            <a:pPr>
              <a:spcAft>
                <a:spcPts val="600"/>
              </a:spcAft>
              <a:defRPr sz="1800">
                <a:solidFill>
                  <a:srgbClr val="404040"/>
                </a:solidFill>
              </a:defRPr>
            </a:pPr>
            <a:r>
              <a:t>Plan to extend the chatbot service to other languages for better patient inclusivity</a:t>
            </a:r>
          </a:p>
          <a:p>
            <a:pPr>
              <a:spcAft>
                <a:spcPts val="600"/>
              </a:spcAft>
              <a:defRPr sz="1800">
                <a:solidFill>
                  <a:srgbClr val="404040"/>
                </a:solidFill>
              </a:defRPr>
            </a:pPr>
            <a:r>
              <a:t>Future consideration to integrate the chatbot with EHR for personalized patient advice</a:t>
            </a:r>
          </a:p>
          <a:p>
            <a:pPr>
              <a:spcAft>
                <a:spcPts val="600"/>
              </a:spcAft>
              <a:defRPr sz="1800">
                <a:solidFill>
                  <a:srgbClr val="FF8243"/>
                </a:solidFill>
              </a:defRPr>
            </a:pPr>
            <a:r>
              <a:t>Evaluating the need for further IT investments based on the pilot's outcomes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00B050"/>
                </a:solidFill>
              </a:defRPr>
            </a:pPr>
            <a:r>
              <a:t>Conclusion</a:t>
            </a:r>
          </a:p>
        </p:txBody>
      </p:sp>
      <p:sp>
        <p:nvSpPr>
          <p:cNvPr id="3" name="Content Placeholder 2"/>
          <p:cNvSpPr>
            <a:spLocks noGrp="1"/>
          </p:cNvSpPr>
          <p:nvPr>
            <p:ph idx="1"/>
          </p:nvPr>
        </p:nvSpPr>
        <p:spPr/>
        <p:txBody>
          <a:bodyPr/>
          <a:lstStyle/>
          <a:p/>
          <a:p>
            <a:pPr>
              <a:spcAft>
                <a:spcPts val="800"/>
              </a:spcAft>
              <a:defRPr sz="1800" b="1">
                <a:solidFill>
                  <a:srgbClr val="FF8243"/>
                </a:solidFill>
              </a:defRPr>
            </a:pPr>
            <a:r>
              <a:t>The pilot project has shown massive potential to revolutionize our digital healthcare delivery. Moving forward, we will be working on scaling this innovation across all services to ensure seamless and effective care for our patients.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