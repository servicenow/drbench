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ctrTitle"/>
          </p:nvPr>
        </p:nvSpPr>
        <p:spPr/>
        <p:txBody>
          <a:bodyPr/>
          <a:lstStyle/>
          <a:p>
            <a:pPr>
              <a:defRPr sz="4400" b="1">
                <a:solidFill>
                  <a:srgbClr val="DC143C"/>
                </a:solidFill>
              </a:defRPr>
            </a:pPr>
            <a:r>
              <a:t>Internal IT Audit Review 2025</a:t>
            </a:r>
          </a:p>
        </p:txBody>
      </p:sp>
      <p:sp>
        <p:nvSpPr>
          <p:cNvPr id="3" name="Subtitle 2"/>
          <p:cNvSpPr>
            <a:spLocks noGrp="1"/>
          </p:cNvSpPr>
          <p:nvPr>
            <p:ph type="subTitle" idx="1"/>
          </p:nvPr>
        </p:nvSpPr>
        <p:spPr/>
        <p:txBody>
          <a:bodyPr/>
          <a:lstStyle/>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pPr>
              <a:defRPr sz="3200" b="1">
                <a:solidFill>
                  <a:srgbClr val="DC143C"/>
                </a:solidFill>
              </a:defRPr>
            </a:pPr>
            <a:r>
              <a:t>Introduction</a:t>
            </a:r>
          </a:p>
        </p:txBody>
      </p:sp>
      <p:sp>
        <p:nvSpPr>
          <p:cNvPr id="3" name="Content Placeholder 2"/>
          <p:cNvSpPr>
            <a:spLocks noGrp="1"/>
          </p:cNvSpPr>
          <p:nvPr>
            <p:ph idx="1"/>
          </p:nvPr>
        </p:nvSpPr>
        <p:spPr/>
        <p:txBody>
          <a:bodyPr/>
          <a:lstStyle/>
          <a:p/>
          <a:p>
            <a:pPr>
              <a:spcAft>
                <a:spcPts val="800"/>
              </a:spcAft>
              <a:defRPr sz="1800">
                <a:solidFill>
                  <a:srgbClr val="404040"/>
                </a:solidFill>
              </a:defRPr>
            </a:pPr>
            <a:r>
              <a:t>This presentation aims to review our internal IT audit activities in 2025. It provides insights into the number, scope, and results of audits conducted during the year.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pPr>
              <a:defRPr sz="3200" b="1">
                <a:solidFill>
                  <a:srgbClr val="DC143C"/>
                </a:solidFill>
              </a:defRPr>
            </a:pPr>
            <a:r>
              <a:t>Overview of IT Audit Landscape</a:t>
            </a:r>
          </a:p>
        </p:txBody>
      </p:sp>
      <p:sp>
        <p:nvSpPr>
          <p:cNvPr id="3" name="Content Placeholder 2"/>
          <p:cNvSpPr>
            <a:spLocks noGrp="1"/>
          </p:cNvSpPr>
          <p:nvPr>
            <p:ph idx="1"/>
          </p:nvPr>
        </p:nvSpPr>
        <p:spPr>
          <a:xfrm>
            <a:off x="457200" y="1828800"/>
            <a:ext cx="4114800" cy="3657600"/>
          </a:xfrm>
        </p:spPr>
        <p:txBody>
          <a:bodyPr/>
          <a:lstStyle/>
          <a:p/>
          <a:p>
            <a:pPr>
              <a:spcAft>
                <a:spcPts val="400"/>
              </a:spcAft>
              <a:defRPr sz="1600">
                <a:solidFill>
                  <a:srgbClr val="404040"/>
                </a:solidFill>
              </a:defRPr>
            </a:pPr>
            <a:r>
              <a:t>IT audits are designed to evaluate the management of systems and processes</a:t>
            </a:r>
          </a:p>
          <a:p>
            <a:pPr>
              <a:spcAft>
                <a:spcPts val="400"/>
              </a:spcAft>
              <a:defRPr sz="1600">
                <a:solidFill>
                  <a:srgbClr val="404040"/>
                </a:solidFill>
              </a:defRPr>
            </a:pPr>
            <a:r>
              <a:t>Risk-based approach to IT audits is commonly adopted in the industry</a:t>
            </a:r>
          </a:p>
          <a:p>
            <a:pPr>
              <a:spcAft>
                <a:spcPts val="400"/>
              </a:spcAft>
              <a:defRPr sz="1600">
                <a:solidFill>
                  <a:srgbClr val="FFD700"/>
                </a:solidFill>
              </a:defRPr>
            </a:pPr>
            <a:r>
              <a:t>In 2024, the industry observed a 15% increase in IT audits</a:t>
            </a:r>
          </a:p>
          <a:p>
            <a:pPr>
              <a:spcAft>
                <a:spcPts val="400"/>
              </a:spcAft>
              <a:defRPr sz="1600">
                <a:solidFill>
                  <a:srgbClr val="404040"/>
                </a:solidFill>
              </a:defRPr>
            </a:pPr>
            <a:r>
              <a:t>Regulatory compliance is a significant driver for IT audits</a:t>
            </a:r>
          </a:p>
          <a:p>
            <a:pPr>
              <a:spcAft>
                <a:spcPts val="400"/>
              </a:spcAft>
              <a:defRPr sz="1600">
                <a:solidFill>
                  <a:srgbClr val="404040"/>
                </a:solidFill>
              </a:defRPr>
            </a:pPr>
            <a:r>
              <a:t>IT audits often assess the effectiveness of information security and data governance</a:t>
            </a:r>
          </a:p>
          <a:p>
            <a:pPr>
              <a:spcAft>
                <a:spcPts val="400"/>
              </a:spcAft>
              <a:defRPr sz="1600">
                <a:solidFill>
                  <a:srgbClr val="FFD700"/>
                </a:solidFill>
              </a:defRPr>
            </a:pPr>
            <a:r>
              <a:t>Cybersecurity audits have become more prevalent in the healthcare industry</a:t>
            </a:r>
          </a:p>
          <a:p>
            <a:pPr>
              <a:spcAft>
                <a:spcPts val="400"/>
              </a:spcAft>
              <a:defRPr sz="1600">
                <a:solidFill>
                  <a:srgbClr val="404040"/>
                </a:solidFill>
              </a:defRPr>
            </a:pPr>
            <a:r>
              <a:t>Third-party vendors are often involved in conducting IT audits</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pPr>
              <a:defRPr sz="3200" b="1">
                <a:solidFill>
                  <a:srgbClr val="DC143C"/>
                </a:solidFill>
              </a:defRPr>
            </a:pPr>
            <a:r>
              <a:t>2025 IT Audit Execution and Insights</a:t>
            </a:r>
          </a:p>
        </p:txBody>
      </p:sp>
      <p:sp>
        <p:nvSpPr>
          <p:cNvPr id="3" name="Content Placeholder 2"/>
          <p:cNvSpPr>
            <a:spLocks noGrp="1"/>
          </p:cNvSpPr>
          <p:nvPr>
            <p:ph idx="1"/>
          </p:nvPr>
        </p:nvSpPr>
        <p:spPr/>
        <p:txBody>
          <a:bodyPr/>
          <a:lstStyle/>
          <a:p/>
          <a:p>
            <a:pPr>
              <a:spcAft>
                <a:spcPts val="600"/>
              </a:spcAft>
              <a:defRPr sz="1800">
                <a:solidFill>
                  <a:srgbClr val="404040"/>
                </a:solidFill>
              </a:defRPr>
            </a:pPr>
            <a:r>
              <a:t>A risk-based approach was used for IT audits in 2025</a:t>
            </a:r>
          </a:p>
          <a:p>
            <a:pPr>
              <a:spcAft>
                <a:spcPts val="600"/>
              </a:spcAft>
              <a:defRPr sz="1800">
                <a:solidFill>
                  <a:srgbClr val="404040"/>
                </a:solidFill>
              </a:defRPr>
            </a:pPr>
            <a:r>
              <a:t>IT audits were focused on data protection, cybersecurity, and regulatory compliance</a:t>
            </a:r>
          </a:p>
          <a:p>
            <a:pPr>
              <a:spcAft>
                <a:spcPts val="600"/>
              </a:spcAft>
              <a:defRPr sz="1800">
                <a:solidFill>
                  <a:srgbClr val="FFD700"/>
                </a:solidFill>
              </a:defRPr>
            </a:pPr>
            <a:r>
              <a:t>Audit findings were used to improve IT governance and processes</a:t>
            </a:r>
          </a:p>
          <a:p>
            <a:pPr>
              <a:spcAft>
                <a:spcPts val="600"/>
              </a:spcAft>
              <a:defRPr sz="1800">
                <a:solidFill>
                  <a:srgbClr val="404040"/>
                </a:solidFill>
              </a:defRPr>
            </a:pPr>
            <a:r>
              <a:t>Key areas of focus included data management, business continuity, and IT infrastructure</a:t>
            </a:r>
          </a:p>
          <a:p>
            <a:pPr>
              <a:spcAft>
                <a:spcPts val="600"/>
              </a:spcAft>
              <a:defRPr sz="1800">
                <a:solidFill>
                  <a:srgbClr val="404040"/>
                </a:solidFill>
              </a:defRPr>
            </a:pPr>
            <a:r>
              <a:t>External vendors were engaged for special audits</a:t>
            </a:r>
          </a:p>
          <a:p>
            <a:pPr>
              <a:spcAft>
                <a:spcPts val="600"/>
              </a:spcAft>
              <a:defRPr sz="1800">
                <a:solidFill>
                  <a:srgbClr val="FFD700"/>
                </a:solidFill>
              </a:defRPr>
            </a:pPr>
            <a:r>
              <a:t>IT audits provided insights for strategic IT planning</a:t>
            </a:r>
          </a:p>
          <a:p>
            <a:pPr>
              <a:spcAft>
                <a:spcPts val="600"/>
              </a:spcAft>
              <a:defRPr sz="1800">
                <a:solidFill>
                  <a:srgbClr val="404040"/>
                </a:solidFill>
              </a:defRPr>
            </a:pPr>
            <a:r>
              <a:t>The IT department worked closely with the audit team to address identified risks</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pPr>
              <a:defRPr sz="3200" b="1">
                <a:solidFill>
                  <a:srgbClr val="DC143C"/>
                </a:solidFill>
              </a:defRPr>
            </a:pPr>
            <a:r>
              <a:t>Audit Impact on IT Infrastructure</a:t>
            </a:r>
          </a:p>
        </p:txBody>
      </p:sp>
      <p:sp>
        <p:nvSpPr>
          <p:cNvPr id="3" name="Content Placeholder 2"/>
          <p:cNvSpPr>
            <a:spLocks noGrp="1"/>
          </p:cNvSpPr>
          <p:nvPr>
            <p:ph idx="1"/>
          </p:nvPr>
        </p:nvSpPr>
        <p:spPr/>
        <p:txBody>
          <a:bodyPr/>
          <a:lstStyle/>
          <a:p/>
          <a:p>
            <a:pPr>
              <a:spcAft>
                <a:spcPts val="600"/>
              </a:spcAft>
              <a:defRPr sz="1800">
                <a:solidFill>
                  <a:srgbClr val="404040"/>
                </a:solidFill>
              </a:defRPr>
            </a:pPr>
            <a:r>
              <a:t>IT audits helped in identifying potential risks in the IT infrastructure</a:t>
            </a:r>
          </a:p>
          <a:p>
            <a:pPr>
              <a:spcAft>
                <a:spcPts val="600"/>
              </a:spcAft>
              <a:defRPr sz="1800">
                <a:solidFill>
                  <a:srgbClr val="404040"/>
                </a:solidFill>
              </a:defRPr>
            </a:pPr>
            <a:r>
              <a:t>Recommendations from audits were incorporated into IT infrastructure planning</a:t>
            </a:r>
          </a:p>
          <a:p>
            <a:pPr>
              <a:spcAft>
                <a:spcPts val="600"/>
              </a:spcAft>
              <a:defRPr sz="1800">
                <a:solidFill>
                  <a:srgbClr val="FFD700"/>
                </a:solidFill>
              </a:defRPr>
            </a:pPr>
            <a:r>
              <a:t>IT audits led to changes in data management, cybersecurity, and business continuity practices</a:t>
            </a:r>
          </a:p>
          <a:p>
            <a:pPr>
              <a:spcAft>
                <a:spcPts val="600"/>
              </a:spcAft>
              <a:defRPr sz="1800">
                <a:solidFill>
                  <a:srgbClr val="404040"/>
                </a:solidFill>
              </a:defRPr>
            </a:pPr>
            <a:r>
              <a:t>IT audits resulted in the adoption of new technologies to enhance data security</a:t>
            </a:r>
          </a:p>
          <a:p>
            <a:pPr>
              <a:spcAft>
                <a:spcPts val="600"/>
              </a:spcAft>
              <a:defRPr sz="1800">
                <a:solidFill>
                  <a:srgbClr val="404040"/>
                </a:solidFill>
              </a:defRPr>
            </a:pPr>
            <a:r>
              <a:t>IT infrastructure upgrades were prioritized based on audit findings</a:t>
            </a:r>
          </a:p>
          <a:p>
            <a:pPr>
              <a:spcAft>
                <a:spcPts val="600"/>
              </a:spcAft>
              <a:defRPr sz="1800">
                <a:solidFill>
                  <a:srgbClr val="FFD700"/>
                </a:solidFill>
              </a:defRPr>
            </a:pPr>
            <a:r>
              <a:t>The IT team worked on refining its disaster recovery strategy post audits</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pPr>
              <a:defRPr sz="3200" b="1">
                <a:solidFill>
                  <a:srgbClr val="DC143C"/>
                </a:solidFill>
              </a:defRPr>
            </a:pPr>
            <a:r>
              <a:t>Conclusion</a:t>
            </a:r>
          </a:p>
        </p:txBody>
      </p:sp>
      <p:sp>
        <p:nvSpPr>
          <p:cNvPr id="3" name="Content Placeholder 2"/>
          <p:cNvSpPr>
            <a:spLocks noGrp="1"/>
          </p:cNvSpPr>
          <p:nvPr>
            <p:ph idx="1"/>
          </p:nvPr>
        </p:nvSpPr>
        <p:spPr/>
        <p:txBody>
          <a:bodyPr/>
          <a:lstStyle/>
          <a:p/>
          <a:p>
            <a:pPr>
              <a:spcAft>
                <a:spcPts val="800"/>
              </a:spcAft>
              <a:defRPr sz="1800" b="1">
                <a:solidFill>
                  <a:srgbClr val="FFD700"/>
                </a:solidFill>
              </a:defRPr>
            </a:pPr>
            <a:r>
              <a:t>The IT audits conducted in 2025 have significantly contributed to improving our virtual healthcare services. Going forward, we intend to continue strengthening our IT infrastructure based on the insights derived from these audits.</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