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Enhancing Dealer Relationships with Automotive Cloud</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strengthen our dealer network, it's crucial to explore how Automotive Cloud's dealer performance management tools could contribute to our goals. Today, we will assess its potential impact on our relationship with North American dealers and our direct-to-government sales channel.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Understanding Automotive Cloud's Dealer Performance Tools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Examination of Elexion Automotive's dealer network sales performance revealed an uneven distribution, with our leading dealerships accounting for nearly two-thirds of total dealer revenue.</a:t>
            </a:r>
          </a:p>
          <a:p>
            <a:pPr>
              <a:spcAft>
                <a:spcPts val="400"/>
              </a:spcAft>
              <a:defRPr sz="1600">
                <a:solidFill>
                  <a:srgbClr val="404040"/>
                </a:solidFill>
              </a:defRPr>
            </a:pPr>
            <a:r>
              <a:t>As of September 2024, an identified gap in our capability was the lack of a systematic approach to share best practices and replicate the success of top-performing dealerships across our 33 locations.</a:t>
            </a:r>
          </a:p>
          <a:p>
            <a:pPr>
              <a:spcAft>
                <a:spcPts val="400"/>
              </a:spcAft>
              <a:defRPr sz="1600">
                <a:solidFill>
                  <a:srgbClr val="FF8C00"/>
                </a:solidFill>
              </a:defRPr>
            </a:pPr>
            <a:r>
              <a:t>The introduction of Automotive Cloud's dealer performance management tools could provide a robust platform to address this gap, enhancing our dealer network's performance.</a:t>
            </a:r>
          </a:p>
          <a:p>
            <a:pPr>
              <a:spcAft>
                <a:spcPts val="400"/>
              </a:spcAft>
              <a:defRPr sz="1600">
                <a:solidFill>
                  <a:srgbClr val="404040"/>
                </a:solidFill>
              </a:defRPr>
            </a:pPr>
            <a:r>
              <a:t>By leveraging these tools, we can efficiently share successful strategies, improve knowledge transfer, and ensure consistent execution across all dealerships.</a:t>
            </a:r>
          </a:p>
          <a:p>
            <a:pPr>
              <a:spcAft>
                <a:spcPts val="400"/>
              </a:spcAft>
              <a:defRPr sz="1600">
                <a:solidFill>
                  <a:srgbClr val="404040"/>
                </a:solidFill>
              </a:defRPr>
            </a:pPr>
            <a:r>
              <a:t>The tools' potential to drive revenue growth in our dealer network could also serve to fortify our direct-to-government sales channel, allowing us to maintain our 90% market share in this area.</a:t>
            </a:r>
          </a:p>
          <a:p>
            <a:pPr>
              <a:spcAft>
                <a:spcPts val="400"/>
              </a:spcAft>
              <a:defRPr sz="1600">
                <a:solidFill>
                  <a:srgbClr val="FF8C00"/>
                </a:solidFill>
              </a:defRPr>
            </a:pPr>
            <a:r>
              <a:t>Early adoption of these tools by 2027 will enable us to get ahead of larger manufacturer networks and regional operations groups that Salesforce is targeting as prospective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Current State of North American Dealer Network</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North American market has approximately 18,000 franchised car dealerships</a:t>
            </a:r>
          </a:p>
          <a:p>
            <a:pPr>
              <a:spcAft>
                <a:spcPts val="600"/>
              </a:spcAft>
              <a:defRPr sz="1800">
                <a:solidFill>
                  <a:srgbClr val="404040"/>
                </a:solidFill>
              </a:defRPr>
            </a:pPr>
            <a:r>
              <a:t>Dealerships are diversifying into used cars, service, and parts to increase profits</a:t>
            </a:r>
          </a:p>
          <a:p>
            <a:pPr>
              <a:spcAft>
                <a:spcPts val="600"/>
              </a:spcAft>
              <a:defRPr sz="1800">
                <a:solidFill>
                  <a:srgbClr val="FF8C00"/>
                </a:solidFill>
              </a:defRPr>
            </a:pPr>
            <a:r>
              <a:t>Dealers are investing in digital sales channels to reach more customers</a:t>
            </a:r>
          </a:p>
          <a:p>
            <a:pPr>
              <a:spcAft>
                <a:spcPts val="600"/>
              </a:spcAft>
              <a:defRPr sz="1800">
                <a:solidFill>
                  <a:srgbClr val="404040"/>
                </a:solidFill>
              </a:defRPr>
            </a:pPr>
            <a:r>
              <a:t>The average dealership size in North America is 30,000 square feet</a:t>
            </a:r>
          </a:p>
          <a:p>
            <a:pPr>
              <a:spcAft>
                <a:spcPts val="600"/>
              </a:spcAft>
              <a:defRPr sz="1800">
                <a:solidFill>
                  <a:srgbClr val="404040"/>
                </a:solidFill>
              </a:defRPr>
            </a:pPr>
            <a:r>
              <a:t>Dealerships are focusing more on customer experience to retain customers</a:t>
            </a:r>
          </a:p>
          <a:p>
            <a:pPr>
              <a:spcAft>
                <a:spcPts val="600"/>
              </a:spcAft>
              <a:defRPr sz="1800">
                <a:solidFill>
                  <a:srgbClr val="FF8C00"/>
                </a:solidFill>
              </a:defRPr>
            </a:pPr>
            <a:r>
              <a:t>In 2022, 54% of new cars sold were SUVs, followed by compact cars and pickups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Balancing Dealer Relationships and Government Sales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Government sales often involve bulk purchases and longer-term contracts</a:t>
            </a:r>
          </a:p>
          <a:p>
            <a:pPr>
              <a:spcAft>
                <a:spcPts val="600"/>
              </a:spcAft>
              <a:defRPr sz="1800">
                <a:solidFill>
                  <a:srgbClr val="404040"/>
                </a:solidFill>
              </a:defRPr>
            </a:pPr>
            <a:r>
              <a:t>Dealerships may offer additional services, such as maintenance and repairs</a:t>
            </a:r>
          </a:p>
          <a:p>
            <a:pPr>
              <a:spcAft>
                <a:spcPts val="600"/>
              </a:spcAft>
              <a:defRPr sz="1800">
                <a:solidFill>
                  <a:srgbClr val="FF8C00"/>
                </a:solidFill>
              </a:defRPr>
            </a:pPr>
            <a:r>
              <a:t>Government contracts often require adherence to specific regulatory standards</a:t>
            </a:r>
          </a:p>
          <a:p>
            <a:pPr>
              <a:spcAft>
                <a:spcPts val="600"/>
              </a:spcAft>
              <a:defRPr sz="1800">
                <a:solidFill>
                  <a:srgbClr val="404040"/>
                </a:solidFill>
              </a:defRPr>
            </a:pPr>
            <a:r>
              <a:t>Dealerships typically have a wider geographical reach than direct government sales</a:t>
            </a:r>
          </a:p>
          <a:p>
            <a:pPr>
              <a:spcAft>
                <a:spcPts val="600"/>
              </a:spcAft>
              <a:defRPr sz="1800">
                <a:solidFill>
                  <a:srgbClr val="404040"/>
                </a:solidFill>
              </a:defRPr>
            </a:pPr>
            <a:r>
              <a:t>Government sales often involve a more complex procurement process</a:t>
            </a:r>
          </a:p>
          <a:p>
            <a:pPr>
              <a:spcAft>
                <a:spcPts val="600"/>
              </a:spcAft>
              <a:defRPr sz="1800">
                <a:solidFill>
                  <a:srgbClr val="FF8C00"/>
                </a:solidFill>
              </a:defRPr>
            </a:pPr>
            <a:r>
              <a:t>Dealerships can offer a more localized and personalized sales experience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8C00"/>
                </a:solidFill>
              </a:defRPr>
            </a:pPr>
            <a:r>
              <a:t>By harnessing the power of Automotive Cloud's tools, we can enhance our relationships with dealers and maintain our strong government sales. Let's prepare to leverage these tools and initiate discussions with Automotive Cloud by Q2.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