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Multilingual Support in MediConn's Services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expand our reach across Canada, it's crucial to understand the diverse language needs of our customers. This presentation examines the language support provided by our customer service team in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Demographics of MediConn's Customer Base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services are widely used across all provinces of Canada</a:t>
            </a:r>
          </a:p>
          <a:p>
            <a:pPr>
              <a:spcAft>
                <a:spcPts val="600"/>
              </a:spcAft>
              <a:defRPr sz="1800">
                <a:solidFill>
                  <a:srgbClr val="404040"/>
                </a:solidFill>
              </a:defRPr>
            </a:pPr>
            <a:r>
              <a:t>Our user base consists primarily of individuals aged between 30-50 years</a:t>
            </a:r>
          </a:p>
          <a:p>
            <a:pPr>
              <a:spcAft>
                <a:spcPts val="600"/>
              </a:spcAft>
              <a:defRPr sz="1800">
                <a:solidFill>
                  <a:srgbClr val="FF8C00"/>
                </a:solidFill>
              </a:defRPr>
            </a:pPr>
            <a:r>
              <a:t>Approximately 40% of our users are from urban regions, while 60% come from suburban and rural areas</a:t>
            </a:r>
          </a:p>
          <a:p>
            <a:pPr>
              <a:spcAft>
                <a:spcPts val="600"/>
              </a:spcAft>
              <a:defRPr sz="1800">
                <a:solidFill>
                  <a:srgbClr val="404040"/>
                </a:solidFill>
              </a:defRPr>
            </a:pPr>
            <a:r>
              <a:t>The gender distribution of our customer base is roughly equal, with a slight female predominance at 52%</a:t>
            </a:r>
          </a:p>
          <a:p>
            <a:pPr>
              <a:spcAft>
                <a:spcPts val="600"/>
              </a:spcAft>
              <a:defRPr sz="1800">
                <a:solidFill>
                  <a:srgbClr val="404040"/>
                </a:solidFill>
              </a:defRPr>
            </a:pPr>
            <a:r>
              <a:t>A significant percentage of users, roughly 65%, have subscribed to our services through corporate partnerships</a:t>
            </a:r>
          </a:p>
          <a:p>
            <a:pPr>
              <a:spcAft>
                <a:spcPts val="600"/>
              </a:spcAft>
              <a:defRPr sz="1800">
                <a:solidFill>
                  <a:srgbClr val="FF8C00"/>
                </a:solidFill>
              </a:defRPr>
            </a:pPr>
            <a:r>
              <a:t>Our user retention rate in 2024 was 87%, a 3% increase from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Language Capabilities of Customer Service Team</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customer service team consists of highly trained professionals with diverse language skills</a:t>
            </a:r>
          </a:p>
          <a:p>
            <a:pPr>
              <a:spcAft>
                <a:spcPts val="400"/>
              </a:spcAft>
              <a:defRPr sz="1600">
                <a:solidFill>
                  <a:srgbClr val="404040"/>
                </a:solidFill>
              </a:defRPr>
            </a:pPr>
            <a:r>
              <a:t>We strive to provide round-the-clock support to our customers</a:t>
            </a:r>
          </a:p>
          <a:p>
            <a:pPr>
              <a:spcAft>
                <a:spcPts val="400"/>
              </a:spcAft>
              <a:defRPr sz="1600">
                <a:solidFill>
                  <a:srgbClr val="FF8C00"/>
                </a:solidFill>
              </a:defRPr>
            </a:pPr>
            <a:r>
              <a:t>Our customer service team receives ongoing training to stay updated with the latest industry standards and practices</a:t>
            </a:r>
          </a:p>
          <a:p>
            <a:pPr>
              <a:spcAft>
                <a:spcPts val="400"/>
              </a:spcAft>
              <a:defRPr sz="1600">
                <a:solidFill>
                  <a:srgbClr val="404040"/>
                </a:solidFill>
              </a:defRPr>
            </a:pPr>
            <a:r>
              <a:t>We leverage AI technology to aid our customer service team in resolving customer issues efficiently</a:t>
            </a:r>
          </a:p>
          <a:p>
            <a:pPr>
              <a:spcAft>
                <a:spcPts val="400"/>
              </a:spcAft>
              <a:defRPr sz="1600">
                <a:solidFill>
                  <a:srgbClr val="404040"/>
                </a:solidFill>
              </a:defRPr>
            </a:pPr>
            <a:r>
              <a:t>In 2024, we implemented a new customer service software to streamline ticketing and problem resolution</a:t>
            </a:r>
          </a:p>
          <a:p>
            <a:pPr>
              <a:spcAft>
                <a:spcPts val="400"/>
              </a:spcAft>
              <a:defRPr sz="1600">
                <a:solidFill>
                  <a:srgbClr val="FF8C00"/>
                </a:solidFill>
              </a:defRPr>
            </a:pPr>
            <a:r>
              <a:t>The average response time in 2024 was 15 minutes, a decrease by 5 minutes from the previous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Impact of Multilingual Support on Customer Satisfaction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Multilingual support has been instrumental in achieving higher customer satisfaction ratings</a:t>
            </a:r>
          </a:p>
          <a:p>
            <a:pPr>
              <a:spcAft>
                <a:spcPts val="600"/>
              </a:spcAft>
              <a:defRPr sz="1800">
                <a:solidFill>
                  <a:srgbClr val="404040"/>
                </a:solidFill>
              </a:defRPr>
            </a:pPr>
            <a:r>
              <a:t>We have seen a 20% increase in customer satisfaction scores since introducing multilingual support</a:t>
            </a:r>
          </a:p>
          <a:p>
            <a:pPr>
              <a:spcAft>
                <a:spcPts val="600"/>
              </a:spcAft>
              <a:defRPr sz="1800">
                <a:solidFill>
                  <a:srgbClr val="FF8C00"/>
                </a:solidFill>
              </a:defRPr>
            </a:pPr>
            <a:r>
              <a:t>Customer churn rate has decreased by 5% after the implementation of multilingual support</a:t>
            </a:r>
          </a:p>
          <a:p>
            <a:pPr>
              <a:spcAft>
                <a:spcPts val="600"/>
              </a:spcAft>
              <a:defRPr sz="1800">
                <a:solidFill>
                  <a:srgbClr val="404040"/>
                </a:solidFill>
              </a:defRPr>
            </a:pPr>
            <a:r>
              <a:t>Our Net Promoter Score (NPS) has increased from 70 in 2023 to 80 in 2024</a:t>
            </a:r>
          </a:p>
          <a:p>
            <a:pPr>
              <a:spcAft>
                <a:spcPts val="600"/>
              </a:spcAft>
              <a:defRPr sz="1800">
                <a:solidFill>
                  <a:srgbClr val="404040"/>
                </a:solidFill>
              </a:defRPr>
            </a:pPr>
            <a:r>
              <a:t>In a recent survey, 95% of users rated their customer service interaction as 'excellent' or 'good'</a:t>
            </a:r>
          </a:p>
          <a:p>
            <a:pPr>
              <a:spcAft>
                <a:spcPts val="600"/>
              </a:spcAft>
              <a:defRPr sz="1800">
                <a:solidFill>
                  <a:srgbClr val="FF8C00"/>
                </a:solidFill>
              </a:defRPr>
            </a:pPr>
            <a:r>
              <a:t>We have seen an increase in positive customer reviews and testimonials since introducing multilingual support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The multilingual capabilities of our customer service team have been instrumental in catering to the diverse needs of our customer base. Going forward, we should continue to invest in this area, ensuring we provide accessible service to all Canadians.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