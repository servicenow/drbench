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228B22"/>
                </a:solidFill>
              </a:defRPr>
            </a:pPr>
            <a:r>
              <a:t>Q4 2024: Virtual Consultation Efficiency Analysis</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228B22"/>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Today, we'll be reviewing the efficiency of our digital healthcare services, specifically focusing on the patient wait time in Q4 2024. This analysis will provide valuable insight into our operational effectiveness and areas for potential improvement.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228B22"/>
                </a:solidFill>
              </a:defRPr>
            </a:pPr>
            <a:r>
              <a:t>Overview of Virtual Consultation Process</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The process begins with the patient's request for a virtual consultation certificate</a:t>
            </a:r>
          </a:p>
          <a:p>
            <a:pPr>
              <a:spcAft>
                <a:spcPts val="400"/>
              </a:spcAft>
              <a:defRPr sz="1600">
                <a:solidFill>
                  <a:srgbClr val="404040"/>
                </a:solidFill>
              </a:defRPr>
            </a:pPr>
            <a:r>
              <a:t>MediConn's team verifies the patient’s details and eligibility</a:t>
            </a:r>
          </a:p>
          <a:p>
            <a:pPr>
              <a:spcAft>
                <a:spcPts val="400"/>
              </a:spcAft>
              <a:defRPr sz="1600">
                <a:solidFill>
                  <a:srgbClr val="FF8C00"/>
                </a:solidFill>
              </a:defRPr>
            </a:pPr>
            <a:r>
              <a:t>A licensed healthcare professional is then assigned to the patient</a:t>
            </a:r>
          </a:p>
          <a:p>
            <a:pPr>
              <a:spcAft>
                <a:spcPts val="400"/>
              </a:spcAft>
              <a:defRPr sz="1600">
                <a:solidFill>
                  <a:srgbClr val="404040"/>
                </a:solidFill>
              </a:defRPr>
            </a:pPr>
            <a:r>
              <a:t>The consultation is scheduled based on the professional’s availability</a:t>
            </a:r>
          </a:p>
          <a:p>
            <a:pPr>
              <a:spcAft>
                <a:spcPts val="400"/>
              </a:spcAft>
              <a:defRPr sz="1600">
                <a:solidFill>
                  <a:srgbClr val="404040"/>
                </a:solidFill>
              </a:defRPr>
            </a:pPr>
            <a:r>
              <a:t>After the consultation, the professional generates a report</a:t>
            </a:r>
          </a:p>
          <a:p>
            <a:pPr>
              <a:spcAft>
                <a:spcPts val="400"/>
              </a:spcAft>
              <a:defRPr sz="1600">
                <a:solidFill>
                  <a:srgbClr val="FF8C00"/>
                </a:solidFill>
              </a:defRPr>
            </a:pPr>
            <a:r>
              <a:t>Finally, the report is sent to the patient along with the certificate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228B22"/>
                </a:solidFill>
              </a:defRPr>
            </a:pPr>
            <a:r>
              <a:t>Q4 2024 Patient Wait Time Analysis</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Total number of patients who requested virtual consultation certificates was 15,000</a:t>
            </a:r>
          </a:p>
          <a:p>
            <a:pPr>
              <a:spcAft>
                <a:spcPts val="600"/>
              </a:spcAft>
              <a:defRPr sz="1800">
                <a:solidFill>
                  <a:srgbClr val="404040"/>
                </a:solidFill>
              </a:defRPr>
            </a:pPr>
            <a:r>
              <a:t>The peak request period was during the first two weeks of December</a:t>
            </a:r>
          </a:p>
          <a:p>
            <a:pPr>
              <a:spcAft>
                <a:spcPts val="600"/>
              </a:spcAft>
              <a:defRPr sz="1800">
                <a:solidFill>
                  <a:srgbClr val="FF8C00"/>
                </a:solidFill>
              </a:defRPr>
            </a:pPr>
            <a:r>
              <a:t>Most requests came from Ontario and Quebec</a:t>
            </a:r>
          </a:p>
          <a:p>
            <a:pPr>
              <a:spcAft>
                <a:spcPts val="600"/>
              </a:spcAft>
              <a:defRPr sz="1800">
                <a:solidFill>
                  <a:srgbClr val="404040"/>
                </a:solidFill>
              </a:defRPr>
            </a:pPr>
            <a:r>
              <a:t>Average age of patients was 42 years</a:t>
            </a:r>
          </a:p>
          <a:p>
            <a:pPr>
              <a:spcAft>
                <a:spcPts val="600"/>
              </a:spcAft>
              <a:defRPr sz="1800">
                <a:solidFill>
                  <a:srgbClr val="404040"/>
                </a:solidFill>
              </a:defRPr>
            </a:pPr>
            <a:r>
              <a:t>Majority of patients sought consultations for respiratory issues</a:t>
            </a:r>
          </a:p>
          <a:p>
            <a:pPr>
              <a:spcAft>
                <a:spcPts val="600"/>
              </a:spcAft>
              <a:defRPr sz="1800">
                <a:solidFill>
                  <a:srgbClr val="FF8C00"/>
                </a:solidFill>
              </a:defRPr>
            </a:pPr>
            <a:r>
              <a:t>The least wait time was reported for psychiatry consultations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228B22"/>
                </a:solidFill>
              </a:defRPr>
            </a:pPr>
            <a:r>
              <a:t>Benchmarking Against Industry Standards</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MediConn's patient satisfaction scores consistently exceed industry averages</a:t>
            </a:r>
          </a:p>
          <a:p>
            <a:pPr>
              <a:spcAft>
                <a:spcPts val="600"/>
              </a:spcAft>
              <a:defRPr sz="1800">
                <a:solidFill>
                  <a:srgbClr val="404040"/>
                </a:solidFill>
              </a:defRPr>
            </a:pPr>
            <a:r>
              <a:t>Our platform's uptime of 99.8% outperforms most competitors</a:t>
            </a:r>
          </a:p>
          <a:p>
            <a:pPr>
              <a:spcAft>
                <a:spcPts val="600"/>
              </a:spcAft>
              <a:defRPr sz="1800">
                <a:solidFill>
                  <a:srgbClr val="FF8C00"/>
                </a:solidFill>
              </a:defRPr>
            </a:pPr>
            <a:r>
              <a:t>We hold the industry-leading position in terms of patient data security</a:t>
            </a:r>
          </a:p>
          <a:p>
            <a:pPr>
              <a:spcAft>
                <a:spcPts val="600"/>
              </a:spcAft>
              <a:defRPr sz="1800">
                <a:solidFill>
                  <a:srgbClr val="404040"/>
                </a:solidFill>
              </a:defRPr>
            </a:pPr>
            <a:r>
              <a:t>Our patient callback rate is 20% lower than the industry standard</a:t>
            </a:r>
          </a:p>
          <a:p>
            <a:pPr>
              <a:spcAft>
                <a:spcPts val="600"/>
              </a:spcAft>
              <a:defRPr sz="1800">
                <a:solidFill>
                  <a:srgbClr val="404040"/>
                </a:solidFill>
              </a:defRPr>
            </a:pPr>
            <a:r>
              <a:t>We maintain full compliance with all relevant healthcare and data privacy regulations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228B22"/>
                </a:solidFill>
              </a:defRPr>
            </a:pPr>
            <a:r>
              <a:t>Conclusion</a:t>
            </a:r>
          </a:p>
        </p:txBody>
      </p:sp>
      <p:sp>
        <p:nvSpPr>
          <p:cNvPr id="3" name="Content Placeholder 2"/>
          <p:cNvSpPr>
            <a:spLocks noGrp="1"/>
          </p:cNvSpPr>
          <p:nvPr>
            <p:ph idx="1"/>
          </p:nvPr>
        </p:nvSpPr>
        <p:spPr/>
        <p:txBody>
          <a:bodyPr/>
          <a:lstStyle/>
          <a:p/>
          <a:p>
            <a:pPr>
              <a:spcAft>
                <a:spcPts val="800"/>
              </a:spcAft>
              <a:defRPr sz="1800" b="1">
                <a:solidFill>
                  <a:srgbClr val="FF8C00"/>
                </a:solidFill>
              </a:defRPr>
            </a:pPr>
            <a:r>
              <a:t>As we've seen, our virtual consultation process is performing well against industry standards, but there's always room for improvement. Let's focus on identifying bottlenecks and streamlining our services to enhance patient experience.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