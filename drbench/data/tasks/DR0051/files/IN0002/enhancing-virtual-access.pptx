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Enhancing Virtual Patient Access: Q1 2026</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our continuous drive to improve MediConn's patient experience, we need to consider innovative ways to enhance access to our virtual consultations and prescription management services. This presentation will explore potential strategies to reduce wait times and increase satisfaction and retention.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Current State: Patient Access and Satisfaction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2024, we experienced a 42% rate of incomplete booking attempts on our platform.</a:t>
            </a:r>
          </a:p>
          <a:p>
            <a:pPr>
              <a:spcAft>
                <a:spcPts val="400"/>
              </a:spcAft>
              <a:defRPr sz="1600">
                <a:solidFill>
                  <a:srgbClr val="404040"/>
                </a:solidFill>
              </a:defRPr>
            </a:pPr>
            <a:r>
              <a:t>A significant 68% of these incomplete bookings were abandoned during the payment information input phase.</a:t>
            </a:r>
          </a:p>
          <a:p>
            <a:pPr>
              <a:spcAft>
                <a:spcPts val="400"/>
              </a:spcAft>
              <a:defRPr sz="1600">
                <a:solidFill>
                  <a:srgbClr val="FFC000"/>
                </a:solidFill>
              </a:defRPr>
            </a:pPr>
            <a:r>
              <a:t>The remaining 32% of users ceased their booking during the scheduling phase.</a:t>
            </a:r>
          </a:p>
          <a:p>
            <a:pPr>
              <a:spcAft>
                <a:spcPts val="400"/>
              </a:spcAft>
              <a:defRPr sz="1600">
                <a:solidFill>
                  <a:srgbClr val="404040"/>
                </a:solidFill>
              </a:defRPr>
            </a:pPr>
            <a:r>
              <a:t>Post-booking surveys indicated that a concerning 61% of these patients did not pursue alternate booking methods.</a:t>
            </a:r>
          </a:p>
          <a:p>
            <a:pPr>
              <a:spcAft>
                <a:spcPts val="400"/>
              </a:spcAft>
              <a:defRPr sz="1600">
                <a:solidFill>
                  <a:srgbClr val="404040"/>
                </a:solidFill>
              </a:defRPr>
            </a:pPr>
            <a:r>
              <a:t>A deeper analysis of these figures indicates a potential barrier at the payment and scheduling stages of our platform.</a:t>
            </a:r>
          </a:p>
          <a:p>
            <a:pPr>
              <a:spcAft>
                <a:spcPts val="400"/>
              </a:spcAft>
              <a:defRPr sz="1600">
                <a:solidFill>
                  <a:srgbClr val="FFC000"/>
                </a:solidFill>
              </a:defRPr>
            </a:pPr>
            <a:r>
              <a:t>The high rate of booking abandonments suggests an opportunity to streamline the user experience and improve patient access.</a:t>
            </a:r>
          </a:p>
          <a:p>
            <a:pPr>
              <a:spcAft>
                <a:spcPts val="400"/>
              </a:spcAft>
              <a:defRPr sz="1600">
                <a:solidFill>
                  <a:srgbClr val="404040"/>
                </a:solidFill>
              </a:defRPr>
            </a:pPr>
            <a:r>
              <a:t>Addressing these issues could lead to improved patient satisfaction and retention.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Leveraging Technology to Improve Booking Systems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is currently using a proprietary online booking system</a:t>
            </a:r>
          </a:p>
          <a:p>
            <a:pPr>
              <a:spcAft>
                <a:spcPts val="600"/>
              </a:spcAft>
              <a:defRPr sz="1800">
                <a:solidFill>
                  <a:srgbClr val="404040"/>
                </a:solidFill>
              </a:defRPr>
            </a:pPr>
            <a:r>
              <a:t>In 2025, we upgraded our system to enhance user interface and functionality</a:t>
            </a:r>
          </a:p>
          <a:p>
            <a:pPr>
              <a:spcAft>
                <a:spcPts val="600"/>
              </a:spcAft>
              <a:defRPr sz="1800">
                <a:solidFill>
                  <a:srgbClr val="FFC000"/>
                </a:solidFill>
              </a:defRPr>
            </a:pPr>
            <a:r>
              <a:t>Our booking system is compatible with mobile devices and desktop computers</a:t>
            </a:r>
          </a:p>
          <a:p>
            <a:pPr>
              <a:spcAft>
                <a:spcPts val="600"/>
              </a:spcAft>
              <a:defRPr sz="1800">
                <a:solidFill>
                  <a:srgbClr val="404040"/>
                </a:solidFill>
              </a:defRPr>
            </a:pPr>
            <a:r>
              <a:t>We have a dedicated IT team that ensures the smooth operation of our booking system</a:t>
            </a:r>
          </a:p>
          <a:p>
            <a:pPr>
              <a:spcAft>
                <a:spcPts val="600"/>
              </a:spcAft>
              <a:defRPr sz="1800">
                <a:solidFill>
                  <a:srgbClr val="404040"/>
                </a:solidFill>
              </a:defRPr>
            </a:pPr>
            <a:r>
              <a:t>Our system allows patients to easily reschedule or cancel their appointments</a:t>
            </a:r>
          </a:p>
          <a:p>
            <a:pPr>
              <a:spcAft>
                <a:spcPts val="600"/>
              </a:spcAft>
              <a:defRPr sz="1800">
                <a:solidFill>
                  <a:srgbClr val="FFC000"/>
                </a:solidFill>
              </a:defRPr>
            </a:pPr>
            <a:r>
              <a:t>We utilize cloud-based technology to ensure data security and system reliability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Impact on Patient Satisfaction and Retention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patient retention rate in Q2 2025 was 80%, showing steady growth from 75% the previous year</a:t>
            </a:r>
          </a:p>
          <a:p>
            <a:pPr>
              <a:spcAft>
                <a:spcPts val="600"/>
              </a:spcAft>
              <a:defRPr sz="1800">
                <a:solidFill>
                  <a:srgbClr val="404040"/>
                </a:solidFill>
              </a:defRPr>
            </a:pPr>
            <a:r>
              <a:t>We have a dedicated team for handling patient concerns and inquiries, thus helping to improve patient satisfaction</a:t>
            </a:r>
          </a:p>
          <a:p>
            <a:pPr>
              <a:spcAft>
                <a:spcPts val="600"/>
              </a:spcAft>
              <a:defRPr sz="1800">
                <a:solidFill>
                  <a:srgbClr val="FFC000"/>
                </a:solidFill>
              </a:defRPr>
            </a:pPr>
            <a:r>
              <a:t>Our patient feedback mechanism allows us to continuously improve our services</a:t>
            </a:r>
          </a:p>
          <a:p>
            <a:pPr>
              <a:spcAft>
                <a:spcPts val="600"/>
              </a:spcAft>
              <a:defRPr sz="1800">
                <a:solidFill>
                  <a:srgbClr val="404040"/>
                </a:solidFill>
              </a:defRPr>
            </a:pPr>
            <a:r>
              <a:t>We have seen a correlation between increased satisfaction and patient referrals</a:t>
            </a:r>
          </a:p>
          <a:p>
            <a:pPr>
              <a:spcAft>
                <a:spcPts val="600"/>
              </a:spcAft>
              <a:defRPr sz="1800">
                <a:solidFill>
                  <a:srgbClr val="404040"/>
                </a:solidFill>
              </a:defRPr>
            </a:pPr>
            <a:r>
              <a:t>We conduct quarterly satisfaction surveys to measure the effectiveness of our customer service initiatives</a:t>
            </a:r>
          </a:p>
          <a:p>
            <a:pPr>
              <a:spcAft>
                <a:spcPts val="600"/>
              </a:spcAft>
              <a:defRPr sz="1800">
                <a:solidFill>
                  <a:srgbClr val="FFC000"/>
                </a:solidFill>
              </a:defRPr>
            </a:pPr>
            <a:r>
              <a:t>In 2025, we started a loyalty program to further boost patient retention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enhancing our patient access strategies through advanced technology, we can significantly reduce wait times and improve overall satisfaction. As we move forward, let's prioritize these initiatives and ensure we're adapting to our patients' evolving needs.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