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IT Service Requests Analysis - May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provides a comprehensive analysis of the IT service requests addressed by our team in May 2025. The purpose is to review our performance and identify areas for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Breakdown of IT Service Request Types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Software-related service requests made up 42% of the total in 2025</a:t>
            </a:r>
          </a:p>
          <a:p>
            <a:pPr>
              <a:spcAft>
                <a:spcPts val="600"/>
              </a:spcAft>
              <a:defRPr sz="1800">
                <a:solidFill>
                  <a:srgbClr val="404040"/>
                </a:solidFill>
              </a:defRPr>
            </a:pPr>
            <a:r>
              <a:t>Hardware issues accounted for 35% of service requests</a:t>
            </a:r>
          </a:p>
          <a:p>
            <a:pPr>
              <a:spcAft>
                <a:spcPts val="600"/>
              </a:spcAft>
              <a:defRPr sz="1800">
                <a:solidFill>
                  <a:srgbClr val="FF8243"/>
                </a:solidFill>
              </a:defRPr>
            </a:pPr>
            <a:r>
              <a:t>Network connectivity problems constituted 15% of service requests</a:t>
            </a:r>
          </a:p>
          <a:p>
            <a:pPr>
              <a:spcAft>
                <a:spcPts val="600"/>
              </a:spcAft>
              <a:defRPr sz="1800">
                <a:solidFill>
                  <a:srgbClr val="404040"/>
                </a:solidFill>
              </a:defRPr>
            </a:pPr>
            <a:r>
              <a:t>The remaining 8% of service requests were miscellaneous, including data retrieval and security concerns</a:t>
            </a:r>
          </a:p>
          <a:p>
            <a:pPr>
              <a:spcAft>
                <a:spcPts val="600"/>
              </a:spcAft>
              <a:defRPr sz="1800">
                <a:solidFill>
                  <a:srgbClr val="404040"/>
                </a:solidFill>
              </a:defRPr>
            </a:pPr>
            <a:r>
              <a:t>Software issues were primarily related to application updates and bug fixes</a:t>
            </a:r>
          </a:p>
          <a:p>
            <a:pPr>
              <a:spcAft>
                <a:spcPts val="600"/>
              </a:spcAft>
              <a:defRPr sz="1800">
                <a:solidFill>
                  <a:srgbClr val="FF8243"/>
                </a:solidFill>
              </a:defRPr>
            </a:pPr>
            <a:r>
              <a:t>Hardware problems were mostly related to workstation and peripheral malfunctions</a:t>
            </a:r>
          </a:p>
          <a:p>
            <a:pPr>
              <a:spcAft>
                <a:spcPts val="600"/>
              </a:spcAft>
              <a:defRPr sz="1800">
                <a:solidFill>
                  <a:srgbClr val="404040"/>
                </a:solidFill>
              </a:defRPr>
            </a:pPr>
            <a:r>
              <a:t>Network connectivity issues were typically related to Wi-Fi and VPN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Resolution Time for IT Service Requests in May 2025</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average resolution time for software-related issues was 1.2 hours</a:t>
            </a:r>
          </a:p>
          <a:p>
            <a:pPr>
              <a:spcAft>
                <a:spcPts val="400"/>
              </a:spcAft>
              <a:defRPr sz="1600">
                <a:solidFill>
                  <a:srgbClr val="404040"/>
                </a:solidFill>
              </a:defRPr>
            </a:pPr>
            <a:r>
              <a:t>Hardware-related problems had an average resolution time of 2.5 hours</a:t>
            </a:r>
          </a:p>
          <a:p>
            <a:pPr>
              <a:spcAft>
                <a:spcPts val="400"/>
              </a:spcAft>
              <a:defRPr sz="1600">
                <a:solidFill>
                  <a:srgbClr val="FF8243"/>
                </a:solidFill>
              </a:defRPr>
            </a:pPr>
            <a:r>
              <a:t>Network connectivity problems were typically resolved in 0.8 hours</a:t>
            </a:r>
          </a:p>
          <a:p>
            <a:pPr>
              <a:spcAft>
                <a:spcPts val="400"/>
              </a:spcAft>
              <a:defRPr sz="1600">
                <a:solidFill>
                  <a:srgbClr val="404040"/>
                </a:solidFill>
              </a:defRPr>
            </a:pPr>
            <a:r>
              <a:t>Miscellaneous service requests had an average resolution time of 1.5 hours</a:t>
            </a:r>
          </a:p>
          <a:p>
            <a:pPr>
              <a:spcAft>
                <a:spcPts val="400"/>
              </a:spcAft>
              <a:defRPr sz="1600">
                <a:solidFill>
                  <a:srgbClr val="404040"/>
                </a:solidFill>
              </a:defRPr>
            </a:pPr>
            <a:r>
              <a:t>The longest resolution time in May was 8 hours for a complex hardware issue</a:t>
            </a:r>
          </a:p>
          <a:p>
            <a:pPr>
              <a:spcAft>
                <a:spcPts val="400"/>
              </a:spcAft>
              <a:defRPr sz="1600">
                <a:solidFill>
                  <a:srgbClr val="FF8243"/>
                </a:solidFill>
              </a:defRPr>
            </a:pPr>
            <a:r>
              <a:t>The quickest resolution was a network issue fixed in 15 minutes</a:t>
            </a:r>
          </a:p>
          <a:p>
            <a:pPr>
              <a:spcAft>
                <a:spcPts val="400"/>
              </a:spcAft>
              <a:defRPr sz="1600">
                <a:solidFill>
                  <a:srgbClr val="404040"/>
                </a:solidFill>
              </a:defRPr>
            </a:pPr>
            <a:r>
              <a:t>The IT &amp; Security team aims to keep the average resolution time below 2 hours for all request types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Total IT Service Requests Handled in May 2025</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IT &amp; Security team has seen a consistent increase in service requests year-over-year</a:t>
            </a:r>
          </a:p>
          <a:p>
            <a:pPr>
              <a:spcAft>
                <a:spcPts val="400"/>
              </a:spcAft>
              <a:defRPr sz="1600">
                <a:solidFill>
                  <a:srgbClr val="404040"/>
                </a:solidFill>
              </a:defRPr>
            </a:pPr>
            <a:r>
              <a:t>The busiest day of the week for service requests is Monday</a:t>
            </a:r>
          </a:p>
          <a:p>
            <a:pPr>
              <a:spcAft>
                <a:spcPts val="400"/>
              </a:spcAft>
              <a:defRPr sz="1600">
                <a:solidFill>
                  <a:srgbClr val="FF8243"/>
                </a:solidFill>
              </a:defRPr>
            </a:pPr>
            <a:r>
              <a:t>The least busy day for service requests is Friday</a:t>
            </a:r>
          </a:p>
          <a:p>
            <a:pPr>
              <a:spcAft>
                <a:spcPts val="400"/>
              </a:spcAft>
              <a:defRPr sz="1600">
                <a:solidFill>
                  <a:srgbClr val="404040"/>
                </a:solidFill>
              </a:defRPr>
            </a:pPr>
            <a:r>
              <a:t>The majority of service requests are submitted between 10 AM and 2 PM</a:t>
            </a:r>
          </a:p>
          <a:p>
            <a:pPr>
              <a:spcAft>
                <a:spcPts val="400"/>
              </a:spcAft>
              <a:defRPr sz="1600">
                <a:solidFill>
                  <a:srgbClr val="404040"/>
                </a:solidFill>
              </a:defRPr>
            </a:pPr>
            <a:r>
              <a:t>The fewest service requests are submitted between 6 PM and 6 AM</a:t>
            </a:r>
          </a:p>
          <a:p>
            <a:pPr>
              <a:spcAft>
                <a:spcPts val="400"/>
              </a:spcAft>
              <a:defRPr sz="1600">
                <a:solidFill>
                  <a:srgbClr val="FF8243"/>
                </a:solidFill>
              </a:defRPr>
            </a:pPr>
            <a:r>
              <a:t>The team is considering staff reallocation to better handle peak times</a:t>
            </a:r>
          </a:p>
          <a:p>
            <a:pPr>
              <a:spcAft>
                <a:spcPts val="400"/>
              </a:spcAft>
              <a:defRPr sz="1600">
                <a:solidFill>
                  <a:srgbClr val="404040"/>
                </a:solidFill>
              </a:defRPr>
            </a:pPr>
            <a:r>
              <a:t>Software-related service requests have shown the most significant increase over the years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Analysis of the IT service requests in May shows our team's efficiency in handling and resolving issues. Going forward, we will focus on areas identified for improvement to enhance our IT service delivery.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