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Seasonal Staff English Proficiency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 will discuss the English proficiency trends among our seasonal staff over the past year. This data is crucial to understand as it impacts our customer service and overall business performance.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Seasonal Staff Recruitment Trends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Increased focus on recruiting from local communities to foster a sense of familiarity in stores</a:t>
            </a:r>
          </a:p>
          <a:p>
            <a:pPr>
              <a:spcAft>
                <a:spcPts val="600"/>
              </a:spcAft>
              <a:defRPr sz="1800">
                <a:solidFill>
                  <a:srgbClr val="404040"/>
                </a:solidFill>
              </a:defRPr>
            </a:pPr>
            <a:r>
              <a:t>Augmented reality simulations used in interviews to assess candidates' customer service skills</a:t>
            </a:r>
          </a:p>
          <a:p>
            <a:pPr>
              <a:spcAft>
                <a:spcPts val="600"/>
              </a:spcAft>
              <a:defRPr sz="1800">
                <a:solidFill>
                  <a:srgbClr val="FFD700"/>
                </a:solidFill>
              </a:defRPr>
            </a:pPr>
            <a:r>
              <a:t>In 2025, 40% of seasonal staff were recruited through digital channels, reflecting a shift in recruitment strategy</a:t>
            </a:r>
          </a:p>
          <a:p>
            <a:pPr>
              <a:spcAft>
                <a:spcPts val="600"/>
              </a:spcAft>
              <a:defRPr sz="1800">
                <a:solidFill>
                  <a:srgbClr val="404040"/>
                </a:solidFill>
              </a:defRPr>
            </a:pPr>
            <a:r>
              <a:t>Partnership with local universities for work-study programs led to a 20% increase in applications</a:t>
            </a:r>
          </a:p>
          <a:p>
            <a:pPr>
              <a:spcAft>
                <a:spcPts val="600"/>
              </a:spcAft>
              <a:defRPr sz="1800">
                <a:solidFill>
                  <a:srgbClr val="404040"/>
                </a:solidFill>
              </a:defRPr>
            </a:pPr>
            <a:r>
              <a:t>Implemented a new recruitment software in July 2025 to streamline the hiring process</a:t>
            </a:r>
          </a:p>
          <a:p>
            <a:pPr>
              <a:spcAft>
                <a:spcPts val="600"/>
              </a:spcAft>
              <a:defRPr sz="1800">
                <a:solidFill>
                  <a:srgbClr val="FFD700"/>
                </a:solidFill>
              </a:defRPr>
            </a:pPr>
            <a:r>
              <a:t>Seasonal staff turnover rate decreased by 5% in 2025 compared to 2024</a:t>
            </a:r>
          </a:p>
          <a:p>
            <a:pPr>
              <a:spcAft>
                <a:spcPts val="600"/>
              </a:spcAft>
              <a:defRPr sz="1800">
                <a:solidFill>
                  <a:srgbClr val="404040"/>
                </a:solidFill>
              </a:defRPr>
            </a:pPr>
            <a:r>
              <a:t>The average time to hire for seasonal staff reduced from 14 days in 2024 to 10 days in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English Proficiency Test Performance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Introduced new language training programs for staff in January 2025</a:t>
            </a:r>
          </a:p>
          <a:p>
            <a:pPr>
              <a:spcAft>
                <a:spcPts val="600"/>
              </a:spcAft>
              <a:defRPr sz="1800">
                <a:solidFill>
                  <a:srgbClr val="404040"/>
                </a:solidFill>
              </a:defRPr>
            </a:pPr>
            <a:r>
              <a:t>Improved English proficiency test by introducing AI-graded essays in February 2025</a:t>
            </a:r>
          </a:p>
          <a:p>
            <a:pPr>
              <a:spcAft>
                <a:spcPts val="600"/>
              </a:spcAft>
              <a:defRPr sz="1800">
                <a:solidFill>
                  <a:srgbClr val="FFD700"/>
                </a:solidFill>
              </a:defRPr>
            </a:pPr>
            <a:r>
              <a:t>Noticed a 15% increase in test pass rates for full-time employees in Q2 2025</a:t>
            </a:r>
          </a:p>
          <a:p>
            <a:pPr>
              <a:spcAft>
                <a:spcPts val="600"/>
              </a:spcAft>
              <a:defRPr sz="1800">
                <a:solidFill>
                  <a:srgbClr val="404040"/>
                </a:solidFill>
              </a:defRPr>
            </a:pPr>
            <a:r>
              <a:t>Launched a partnership with an online language learning platform in April 2025</a:t>
            </a:r>
          </a:p>
          <a:p>
            <a:pPr>
              <a:spcAft>
                <a:spcPts val="600"/>
              </a:spcAft>
              <a:defRPr sz="1800">
                <a:solidFill>
                  <a:srgbClr val="404040"/>
                </a:solidFill>
              </a:defRPr>
            </a:pPr>
            <a:r>
              <a:t>Periodic language proficiency assessments were introduced for all staff in June 2025</a:t>
            </a:r>
          </a:p>
          <a:p>
            <a:pPr>
              <a:spcAft>
                <a:spcPts val="600"/>
              </a:spcAft>
              <a:defRPr sz="1800">
                <a:solidFill>
                  <a:srgbClr val="FFD700"/>
                </a:solidFill>
              </a:defRPr>
            </a:pPr>
            <a:r>
              <a:t>Conducted a company-wide English language proficiency survey in July 2025</a:t>
            </a:r>
          </a:p>
          <a:p>
            <a:pPr>
              <a:spcAft>
                <a:spcPts val="600"/>
              </a:spcAft>
              <a:defRPr sz="1800">
                <a:solidFill>
                  <a:srgbClr val="404040"/>
                </a:solidFill>
              </a:defRPr>
            </a:pPr>
            <a:r>
              <a:t>Introduced a new language support policy for non-native English speakers in August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Impact on Customer Service Metrics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Customer satisfaction scores increased by 10% from Q1 to Q3 2025</a:t>
            </a:r>
          </a:p>
          <a:p>
            <a:pPr>
              <a:spcAft>
                <a:spcPts val="400"/>
              </a:spcAft>
              <a:defRPr sz="1600">
                <a:solidFill>
                  <a:srgbClr val="404040"/>
                </a:solidFill>
              </a:defRPr>
            </a:pPr>
            <a:r>
              <a:t>Noticed a 5% decrease in customer complaints related to staff communication in 2025</a:t>
            </a:r>
          </a:p>
          <a:p>
            <a:pPr>
              <a:spcAft>
                <a:spcPts val="400"/>
              </a:spcAft>
              <a:defRPr sz="1600">
                <a:solidFill>
                  <a:srgbClr val="FFD700"/>
                </a:solidFill>
              </a:defRPr>
            </a:pPr>
            <a:r>
              <a:t>Average checkout time reduced by 2 minutes in 2025 due to improved communication skills</a:t>
            </a:r>
          </a:p>
          <a:p>
            <a:pPr>
              <a:spcAft>
                <a:spcPts val="400"/>
              </a:spcAft>
              <a:defRPr sz="1600">
                <a:solidFill>
                  <a:srgbClr val="404040"/>
                </a:solidFill>
              </a:defRPr>
            </a:pPr>
            <a:r>
              <a:t>Online reviews indicating 'friendly staff' increased by 25% in 2025</a:t>
            </a:r>
          </a:p>
          <a:p>
            <a:pPr>
              <a:spcAft>
                <a:spcPts val="400"/>
              </a:spcAft>
              <a:defRPr sz="1600">
                <a:solidFill>
                  <a:srgbClr val="404040"/>
                </a:solidFill>
              </a:defRPr>
            </a:pPr>
            <a:r>
              <a:t>Staff upselling success rate increased by 15% in Q2 2025</a:t>
            </a:r>
          </a:p>
          <a:p>
            <a:pPr>
              <a:spcAft>
                <a:spcPts val="400"/>
              </a:spcAft>
              <a:defRPr sz="1600">
                <a:solidFill>
                  <a:srgbClr val="FFD700"/>
                </a:solidFill>
              </a:defRPr>
            </a:pPr>
            <a:r>
              <a:t>Return shoppers proportion increased by 8% in 2025, possibly due to improved customer service</a:t>
            </a:r>
          </a:p>
          <a:p>
            <a:pPr>
              <a:spcAft>
                <a:spcPts val="400"/>
              </a:spcAft>
              <a:defRPr sz="1600">
                <a:solidFill>
                  <a:srgbClr val="404040"/>
                </a:solidFill>
              </a:defRPr>
            </a:pPr>
            <a:r>
              <a:t>Launched a new customer feedback system in May 2025 to better gauge customer satisfaction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Our analysis shows a need for improved English language training for our seasonal staff to enhance customer service. Moving forward, we recommend implementing a more comprehensive language training program during onboarding.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