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Optimizing In-Store Layouts for Bakery Sales Increase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light of the recent rise in food service sales, this presentation aims to explore strategies to optimize our in-store layouts and product displays, particularly focusing on our bakery department. The ultimate goal is to leverage these changes to achieve a 15% increase in bakery sales by the end of Q1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Understanding Current Retail Trends in Food Service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initial point of customer engagement, our entrance-facing bread display, has demonstrated strong sales performance with an impressive $1,250 per square foot from June to September 2025.</a:t>
            </a:r>
          </a:p>
          <a:p>
            <a:pPr>
              <a:spcAft>
                <a:spcPts val="400"/>
              </a:spcAft>
              <a:defRPr sz="1600">
                <a:solidFill>
                  <a:srgbClr val="404040"/>
                </a:solidFill>
              </a:defRPr>
            </a:pPr>
            <a:r>
              <a:t>Our cake and pastry display holds its own with $1,100 in sales per square foot, indicating a continued consumer interest in these products.</a:t>
            </a:r>
          </a:p>
          <a:p>
            <a:pPr>
              <a:spcAft>
                <a:spcPts val="400"/>
              </a:spcAft>
              <a:defRPr sz="1600">
                <a:solidFill>
                  <a:srgbClr val="FFD700"/>
                </a:solidFill>
              </a:defRPr>
            </a:pPr>
            <a:r>
              <a:t>The checkout-side impulse rack, although not as high performing as the initial bread display, still generated substantial sales of $900 per square foot.</a:t>
            </a:r>
          </a:p>
          <a:p>
            <a:pPr>
              <a:spcAft>
                <a:spcPts val="400"/>
              </a:spcAft>
              <a:defRPr sz="1600">
                <a:solidFill>
                  <a:srgbClr val="404040"/>
                </a:solidFill>
              </a:defRPr>
            </a:pPr>
            <a:r>
              <a:t>The beverage adjacency shelf, while currently underperforming at $650 per square foot, presents an opportunity for strategic merchandising enhancements to boost sales.</a:t>
            </a:r>
          </a:p>
          <a:p>
            <a:pPr>
              <a:spcAft>
                <a:spcPts val="400"/>
              </a:spcAft>
              <a:defRPr sz="1600">
                <a:solidFill>
                  <a:srgbClr val="404040"/>
                </a:solidFill>
              </a:defRPr>
            </a:pPr>
            <a:r>
              <a:t>Our custom cake counter, despite being a less-trafficked zone, has shown remarkable productivity with the highest sales per square foot of $1,500.</a:t>
            </a:r>
          </a:p>
          <a:p>
            <a:pPr>
              <a:spcAft>
                <a:spcPts val="400"/>
              </a:spcAft>
              <a:defRPr sz="1600">
                <a:solidFill>
                  <a:srgbClr val="FFD700"/>
                </a:solidFill>
              </a:defRPr>
            </a:pPr>
            <a:r>
              <a:t>These data points provide crucial insights into our spatial efficiency and serve as a baseline for evaluating the effectiveness of our in-store layouts and product displays.</a:t>
            </a:r>
          </a:p>
          <a:p>
            <a:pPr>
              <a:spcAft>
                <a:spcPts val="400"/>
              </a:spcAft>
              <a:defRPr sz="1600">
                <a:solidFill>
                  <a:srgbClr val="404040"/>
                </a:solidFill>
              </a:defRPr>
            </a:pPr>
            <a:r>
              <a:t>Using this data, it's possible to optimize our in-store layouts and increase bakery sales by 15% by the end of Q1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Analysis of Lee's Market Bakery Department Sales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Review of bakery department's annual sales growth from 2019 to 2024</a:t>
            </a:r>
          </a:p>
          <a:p>
            <a:pPr>
              <a:spcAft>
                <a:spcPts val="600"/>
              </a:spcAft>
              <a:defRPr sz="1800">
                <a:solidFill>
                  <a:srgbClr val="404040"/>
                </a:solidFill>
              </a:defRPr>
            </a:pPr>
            <a:r>
              <a:t>Comparative analysis of bakery sales against other department sales</a:t>
            </a:r>
          </a:p>
          <a:p>
            <a:pPr>
              <a:spcAft>
                <a:spcPts val="600"/>
              </a:spcAft>
              <a:defRPr sz="1800">
                <a:solidFill>
                  <a:srgbClr val="FFD700"/>
                </a:solidFill>
              </a:defRPr>
            </a:pPr>
            <a:r>
              <a:t>Breakdown of bakery sales by product category</a:t>
            </a:r>
          </a:p>
          <a:p>
            <a:pPr>
              <a:spcAft>
                <a:spcPts val="600"/>
              </a:spcAft>
              <a:defRPr sz="1800">
                <a:solidFill>
                  <a:srgbClr val="404040"/>
                </a:solidFill>
              </a:defRPr>
            </a:pPr>
            <a:r>
              <a:t>Impact of seasonal variations on bakery sales</a:t>
            </a:r>
          </a:p>
          <a:p>
            <a:pPr>
              <a:spcAft>
                <a:spcPts val="600"/>
              </a:spcAft>
              <a:defRPr sz="1800">
                <a:solidFill>
                  <a:srgbClr val="404040"/>
                </a:solidFill>
              </a:defRPr>
            </a:pPr>
            <a:r>
              <a:t>Analysis of customer feedback and reviews for bakery products</a:t>
            </a:r>
          </a:p>
          <a:p>
            <a:pPr>
              <a:spcAft>
                <a:spcPts val="600"/>
              </a:spcAft>
              <a:defRPr sz="1800">
                <a:solidFill>
                  <a:srgbClr val="FFD700"/>
                </a:solidFill>
              </a:defRPr>
            </a:pPr>
            <a:r>
              <a:t>Assessment of bakery department's profit margin and cost 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Strategies for In-store Layout Optimization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Implementation of digital signage for improved customer navigation</a:t>
            </a:r>
          </a:p>
          <a:p>
            <a:pPr>
              <a:spcAft>
                <a:spcPts val="600"/>
              </a:spcAft>
              <a:defRPr sz="1800">
                <a:solidFill>
                  <a:srgbClr val="404040"/>
                </a:solidFill>
              </a:defRPr>
            </a:pPr>
            <a:r>
              <a:t>Role of lighting and color schemes in enhancing product appeal</a:t>
            </a:r>
          </a:p>
          <a:p>
            <a:pPr>
              <a:spcAft>
                <a:spcPts val="600"/>
              </a:spcAft>
              <a:defRPr sz="1800">
                <a:solidFill>
                  <a:srgbClr val="FFD700"/>
                </a:solidFill>
              </a:defRPr>
            </a:pPr>
            <a:r>
              <a:t>Importance of efficient space utilization in aisle and shelf arrangement</a:t>
            </a:r>
          </a:p>
          <a:p>
            <a:pPr>
              <a:spcAft>
                <a:spcPts val="600"/>
              </a:spcAft>
              <a:defRPr sz="1800">
                <a:solidFill>
                  <a:srgbClr val="404040"/>
                </a:solidFill>
              </a:defRPr>
            </a:pPr>
            <a:r>
              <a:t>Incorporation of interactive product displays and kiosks</a:t>
            </a:r>
          </a:p>
          <a:p>
            <a:pPr>
              <a:spcAft>
                <a:spcPts val="600"/>
              </a:spcAft>
              <a:defRPr sz="1800">
                <a:solidFill>
                  <a:srgbClr val="404040"/>
                </a:solidFill>
              </a:defRPr>
            </a:pPr>
            <a:r>
              <a:t>Consideration of customer flow and shopping patterns in layout design</a:t>
            </a:r>
          </a:p>
          <a:p>
            <a:pPr>
              <a:spcAft>
                <a:spcPts val="600"/>
              </a:spcAft>
              <a:defRPr sz="1800">
                <a:solidFill>
                  <a:srgbClr val="FFD700"/>
                </a:solidFill>
              </a:defRPr>
            </a:pPr>
            <a:r>
              <a:t>Integration of technology for real-time inventory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By aligning our in-store layout and product display strategies with current retail trends, we can drive significant growth in our bakery sales. Let's gear up to implement these changes and track the impact on our sales in the coming quarters.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