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Lee's Market: North Carolina Expansion Analysis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will focus on the expansion progress of Lee's Market in the North Carolina region. We will review the store presence, growth trends, and the competitive landscape to contextualize our performance.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Lee's Market: Growth Trends in North America</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Lee's Market expanded its operations to the United States in 2015</a:t>
            </a:r>
          </a:p>
          <a:p>
            <a:pPr>
              <a:spcAft>
                <a:spcPts val="400"/>
              </a:spcAft>
              <a:defRPr sz="1600">
                <a:solidFill>
                  <a:srgbClr val="404040"/>
                </a:solidFill>
              </a:defRPr>
            </a:pPr>
            <a:r>
              <a:t>In the last decade, the company has recorded a 15% CAGR in North America</a:t>
            </a:r>
          </a:p>
          <a:p>
            <a:pPr>
              <a:spcAft>
                <a:spcPts val="400"/>
              </a:spcAft>
              <a:defRPr sz="1600">
                <a:solidFill>
                  <a:srgbClr val="FF8C00"/>
                </a:solidFill>
              </a:defRPr>
            </a:pPr>
            <a:r>
              <a:t>Expansion has been largely driven by our focus on organic and locally sourced products</a:t>
            </a:r>
          </a:p>
          <a:p>
            <a:pPr>
              <a:spcAft>
                <a:spcPts val="400"/>
              </a:spcAft>
              <a:defRPr sz="1600">
                <a:solidFill>
                  <a:srgbClr val="404040"/>
                </a:solidFill>
              </a:defRPr>
            </a:pPr>
            <a:r>
              <a:t>As of Q3 2025, our presence spans across 15 states in the US</a:t>
            </a:r>
          </a:p>
          <a:p>
            <a:pPr>
              <a:spcAft>
                <a:spcPts val="400"/>
              </a:spcAft>
              <a:defRPr sz="1600">
                <a:solidFill>
                  <a:srgbClr val="404040"/>
                </a:solidFill>
              </a:defRPr>
            </a:pPr>
            <a:r>
              <a:t>60% of our American stores are located in the East Coast</a:t>
            </a:r>
          </a:p>
          <a:p>
            <a:pPr>
              <a:spcAft>
                <a:spcPts val="400"/>
              </a:spcAft>
              <a:defRPr sz="1600">
                <a:solidFill>
                  <a:srgbClr val="FF8C00"/>
                </a:solidFill>
              </a:defRPr>
            </a:pPr>
            <a:r>
              <a:t>Our West Coast operations have registered the highest growth rate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Store Presence in North Carolina: Q3 2025 Update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Our North Carolina operations are primarily located in urban areas</a:t>
            </a:r>
          </a:p>
          <a:p>
            <a:pPr>
              <a:spcAft>
                <a:spcPts val="600"/>
              </a:spcAft>
              <a:defRPr sz="1800">
                <a:solidFill>
                  <a:srgbClr val="404040"/>
                </a:solidFill>
              </a:defRPr>
            </a:pPr>
            <a:r>
              <a:t>The average store size in North Carolina is 25,000 sq ft</a:t>
            </a:r>
          </a:p>
          <a:p>
            <a:pPr>
              <a:spcAft>
                <a:spcPts val="600"/>
              </a:spcAft>
              <a:defRPr sz="1800">
                <a:solidFill>
                  <a:srgbClr val="FF8C00"/>
                </a:solidFill>
              </a:defRPr>
            </a:pPr>
            <a:r>
              <a:t>We serve an average of 1,000 customers daily in each of our North Carolina stores</a:t>
            </a:r>
          </a:p>
          <a:p>
            <a:pPr>
              <a:spcAft>
                <a:spcPts val="600"/>
              </a:spcAft>
              <a:defRPr sz="1800">
                <a:solidFill>
                  <a:srgbClr val="404040"/>
                </a:solidFill>
              </a:defRPr>
            </a:pPr>
            <a:r>
              <a:t>Our North Carolina stores focus heavily on fresh produce and baked goods</a:t>
            </a:r>
          </a:p>
          <a:p>
            <a:pPr>
              <a:spcAft>
                <a:spcPts val="600"/>
              </a:spcAft>
              <a:defRPr sz="1800">
                <a:solidFill>
                  <a:srgbClr val="404040"/>
                </a:solidFill>
              </a:defRPr>
            </a:pPr>
            <a:r>
              <a:t>We have seen a 20% increase in sales from our North Carolina stores over the last year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Competitive Retail Landscape in North Carolina</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Major competitors in North Carolina include Walmart, Costco, and local grocery chains</a:t>
            </a:r>
          </a:p>
          <a:p>
            <a:pPr>
              <a:spcAft>
                <a:spcPts val="600"/>
              </a:spcAft>
              <a:defRPr sz="1800">
                <a:solidFill>
                  <a:srgbClr val="404040"/>
                </a:solidFill>
              </a:defRPr>
            </a:pPr>
            <a:r>
              <a:t>Walmart holds the largest market share of 30% in North Carolina</a:t>
            </a:r>
          </a:p>
          <a:p>
            <a:pPr>
              <a:spcAft>
                <a:spcPts val="600"/>
              </a:spcAft>
              <a:defRPr sz="1800">
                <a:solidFill>
                  <a:srgbClr val="FF8C00"/>
                </a:solidFill>
              </a:defRPr>
            </a:pPr>
            <a:r>
              <a:t>Our unique focus on fresh, locally sourced goods differentiates us in the market</a:t>
            </a:r>
          </a:p>
          <a:p>
            <a:pPr>
              <a:spcAft>
                <a:spcPts val="600"/>
              </a:spcAft>
              <a:defRPr sz="1800">
                <a:solidFill>
                  <a:srgbClr val="404040"/>
                </a:solidFill>
              </a:defRPr>
            </a:pPr>
            <a:r>
              <a:t>Recent surveys show Lee's Market as the preferred choice among health-conscious consumers</a:t>
            </a:r>
          </a:p>
          <a:p>
            <a:pPr>
              <a:spcAft>
                <a:spcPts val="600"/>
              </a:spcAft>
              <a:defRPr sz="1800">
                <a:solidFill>
                  <a:srgbClr val="404040"/>
                </a:solidFill>
              </a:defRPr>
            </a:pPr>
            <a:r>
              <a:t>The overall retail market in North Carolina grew by 5% in Q3 2025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C00"/>
                </a:solidFill>
              </a:defRPr>
            </a:pPr>
            <a:r>
              <a:t>Our expansion in North Carolina demonstrates significant progress in our North America growth strategy. Moving forward, we need to consider market trends and competitor activities in our expansion plans.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