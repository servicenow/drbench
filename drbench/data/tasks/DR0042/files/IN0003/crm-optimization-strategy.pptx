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Optimizing CRM for Virtual Healthcare Growth</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To continue our trajectory of growth, we need to leverage customer relations management software effectively. This presentation highlights key features that a CRM should possess to align with our virtual healthcare services.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Understanding MediConn's Customer Engagement Needs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Recognizing the legal compliance significance of CRM systems in line with Canadian regulations established in July 2014</a:t>
            </a:r>
          </a:p>
          <a:p>
            <a:pPr>
              <a:spcAft>
                <a:spcPts val="600"/>
              </a:spcAft>
              <a:defRPr sz="1800">
                <a:solidFill>
                  <a:srgbClr val="404040"/>
                </a:solidFill>
              </a:defRPr>
            </a:pPr>
            <a:r>
              <a:t>Ensuring patient data is securely housed within Canadian borders for utmost privacy protection</a:t>
            </a:r>
          </a:p>
          <a:p>
            <a:pPr>
              <a:spcAft>
                <a:spcPts val="600"/>
              </a:spcAft>
              <a:defRPr sz="1800">
                <a:solidFill>
                  <a:srgbClr val="FFD700"/>
                </a:solidFill>
              </a:defRPr>
            </a:pPr>
            <a:r>
              <a:t>Providing bilingual information output in both French and English to cater to Canada's diverse patient population</a:t>
            </a:r>
          </a:p>
          <a:p>
            <a:pPr>
              <a:spcAft>
                <a:spcPts val="600"/>
              </a:spcAft>
              <a:defRPr sz="1800">
                <a:solidFill>
                  <a:srgbClr val="404040"/>
                </a:solidFill>
              </a:defRPr>
            </a:pPr>
            <a:r>
              <a:t>Leveraging CRM systems with advanced analytics capabilities to drive intelligent business decisions</a:t>
            </a:r>
          </a:p>
          <a:p>
            <a:pPr>
              <a:spcAft>
                <a:spcPts val="600"/>
              </a:spcAft>
              <a:defRPr sz="1800">
                <a:solidFill>
                  <a:srgbClr val="404040"/>
                </a:solidFill>
              </a:defRPr>
            </a:pPr>
            <a:r>
              <a:t>Employing automatic marketing communications features within the CRM system to improve patient engagement</a:t>
            </a:r>
          </a:p>
          <a:p>
            <a:pPr>
              <a:spcAft>
                <a:spcPts val="600"/>
              </a:spcAft>
              <a:defRPr sz="1800">
                <a:solidFill>
                  <a:srgbClr val="FFD700"/>
                </a:solidFill>
              </a:defRPr>
            </a:pPr>
            <a:r>
              <a:t>Integrating our CRM system with other healthcare systems to improve efficiency and patient care delivery</a:t>
            </a:r>
          </a:p>
          <a:p>
            <a:pPr>
              <a:spcAft>
                <a:spcPts val="600"/>
              </a:spcAft>
              <a:defRPr sz="1800">
                <a:solidFill>
                  <a:srgbClr val="404040"/>
                </a:solidFill>
              </a:defRPr>
            </a:pPr>
            <a:r>
              <a:t>Exploring the potential of AI to enhance customized patient communication and predict healthcare trends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Key Features of an Effective Healthcare CRM</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CRM systems should be HIPAA compliant to protect patient data</a:t>
            </a:r>
          </a:p>
          <a:p>
            <a:pPr>
              <a:spcAft>
                <a:spcPts val="400"/>
              </a:spcAft>
              <a:defRPr sz="1600">
                <a:solidFill>
                  <a:srgbClr val="404040"/>
                </a:solidFill>
              </a:defRPr>
            </a:pPr>
            <a:r>
              <a:t>Omni-channel support, including email, phone, and chat, is critical for effective patient communication</a:t>
            </a:r>
          </a:p>
          <a:p>
            <a:pPr>
              <a:spcAft>
                <a:spcPts val="400"/>
              </a:spcAft>
              <a:defRPr sz="1600">
                <a:solidFill>
                  <a:srgbClr val="FFD700"/>
                </a:solidFill>
              </a:defRPr>
            </a:pPr>
            <a:r>
              <a:t>Integration with electronic health records (EHRs) enables seamless patient management</a:t>
            </a:r>
          </a:p>
          <a:p>
            <a:pPr>
              <a:spcAft>
                <a:spcPts val="400"/>
              </a:spcAft>
              <a:defRPr sz="1600">
                <a:solidFill>
                  <a:srgbClr val="404040"/>
                </a:solidFill>
              </a:defRPr>
            </a:pPr>
            <a:r>
              <a:t>CRM systems should have a user-friendly interface for ease of use</a:t>
            </a:r>
          </a:p>
          <a:p>
            <a:pPr>
              <a:spcAft>
                <a:spcPts val="400"/>
              </a:spcAft>
              <a:defRPr sz="1600">
                <a:solidFill>
                  <a:srgbClr val="404040"/>
                </a:solidFill>
              </a:defRPr>
            </a:pPr>
            <a:r>
              <a:t>Advanced security features are necessary to prevent data breaches</a:t>
            </a:r>
          </a:p>
          <a:p>
            <a:pPr>
              <a:spcAft>
                <a:spcPts val="400"/>
              </a:spcAft>
              <a:defRPr sz="1600">
                <a:solidFill>
                  <a:srgbClr val="FFD700"/>
                </a:solidFill>
              </a:defRPr>
            </a:pPr>
            <a:r>
              <a:t>It is important for CRM systems to have scalable architecture to support business growth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Integrating CRM into MediConn's Sales Strategy</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MediConn's sales team has 50 members, each handling an average of 100 leads</a:t>
            </a:r>
          </a:p>
          <a:p>
            <a:pPr>
              <a:spcAft>
                <a:spcPts val="600"/>
              </a:spcAft>
              <a:defRPr sz="1800">
                <a:solidFill>
                  <a:srgbClr val="404040"/>
                </a:solidFill>
              </a:defRPr>
            </a:pPr>
            <a:r>
              <a:t>In 2025, 30% of leads were converted to paying customers</a:t>
            </a:r>
          </a:p>
          <a:p>
            <a:pPr>
              <a:spcAft>
                <a:spcPts val="600"/>
              </a:spcAft>
              <a:defRPr sz="1800">
                <a:solidFill>
                  <a:srgbClr val="FFD700"/>
                </a:solidFill>
              </a:defRPr>
            </a:pPr>
            <a:r>
              <a:t>The average lifetime value (LTV) of a MediConn customer is $500</a:t>
            </a:r>
          </a:p>
          <a:p>
            <a:pPr>
              <a:spcAft>
                <a:spcPts val="600"/>
              </a:spcAft>
              <a:defRPr sz="1800">
                <a:solidFill>
                  <a:srgbClr val="404040"/>
                </a:solidFill>
              </a:defRPr>
            </a:pPr>
            <a:r>
              <a:t>The sales team uses a 7-step sales process, from lead generation to closing</a:t>
            </a:r>
          </a:p>
          <a:p>
            <a:pPr>
              <a:spcAft>
                <a:spcPts val="600"/>
              </a:spcAft>
              <a:defRPr sz="1800">
                <a:solidFill>
                  <a:srgbClr val="404040"/>
                </a:solidFill>
              </a:defRPr>
            </a:pPr>
            <a:r>
              <a:t>In 2025, the average sales cycle was 45 days</a:t>
            </a:r>
          </a:p>
          <a:p>
            <a:pPr>
              <a:spcAft>
                <a:spcPts val="600"/>
              </a:spcAft>
              <a:defRPr sz="1800">
                <a:solidFill>
                  <a:srgbClr val="FFD700"/>
                </a:solidFill>
              </a:defRPr>
            </a:pPr>
            <a:r>
              <a:t>The sales team met their quarterly targets 80% of the time in 2025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D700"/>
                </a:solidFill>
              </a:defRPr>
            </a:pPr>
            <a:r>
              <a:t>By selecting a CRM that aligns with our unique needs and integrating it into our sales strategy, we can enhance customer engagement and drive growth. Let's explore potential vendors and prepare an implementation roadmap.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