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0070C0"/>
                </a:solidFill>
              </a:defRPr>
            </a:pPr>
            <a:r>
              <a:t>Enhancing Security Measures in Virtual Healthcare</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As we continue to deliver quality healthcare services remotely, it's critical that we strengthen our security protocols and ensure regulatory compliance. This presentation will discuss our strategic approach towards minimizing network and information system security risks.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Current ITSM Security Protocols and Compliance</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In the year 2024, MediConn Solutions demonstrated its commitment to stringent data security and regulatory compliance by achieving a flawless record in compliance audits.</a:t>
            </a:r>
          </a:p>
          <a:p>
            <a:pPr>
              <a:spcAft>
                <a:spcPts val="400"/>
              </a:spcAft>
              <a:defRPr sz="1600">
                <a:solidFill>
                  <a:srgbClr val="404040"/>
                </a:solidFill>
              </a:defRPr>
            </a:pPr>
            <a:r>
              <a:t>Our ITSM team's protocols were pivotal in ensuring 100% compliance in audits pertaining to patients' data security.</a:t>
            </a:r>
          </a:p>
          <a:p>
            <a:pPr>
              <a:spcAft>
                <a:spcPts val="400"/>
              </a:spcAft>
              <a:defRPr sz="1600">
                <a:solidFill>
                  <a:srgbClr val="FFC000"/>
                </a:solidFill>
              </a:defRPr>
            </a:pPr>
            <a:r>
              <a:t>Our success in protecting sensitive medical data is a testament to the robustness of our ITSM security protocols.</a:t>
            </a:r>
          </a:p>
          <a:p>
            <a:pPr>
              <a:spcAft>
                <a:spcPts val="400"/>
              </a:spcAft>
              <a:defRPr sz="1600">
                <a:solidFill>
                  <a:srgbClr val="404040"/>
                </a:solidFill>
              </a:defRPr>
            </a:pPr>
            <a:r>
              <a:t>The 2024 performance audit reflects the effectiveness of our current ITSM practices in managing risk assessments and ensuring data security.</a:t>
            </a:r>
          </a:p>
          <a:p>
            <a:pPr>
              <a:spcAft>
                <a:spcPts val="400"/>
              </a:spcAft>
              <a:defRPr sz="1600">
                <a:solidFill>
                  <a:srgbClr val="404040"/>
                </a:solidFill>
              </a:defRPr>
            </a:pPr>
            <a:r>
              <a:t>The perfect compliance score underlines the efficacy of our preventive measures against network and information system security risks.</a:t>
            </a:r>
          </a:p>
          <a:p>
            <a:pPr>
              <a:spcAft>
                <a:spcPts val="400"/>
              </a:spcAft>
              <a:defRPr sz="1600">
                <a:solidFill>
                  <a:srgbClr val="FFC000"/>
                </a:solidFill>
              </a:defRPr>
            </a:pPr>
            <a:r>
              <a:t>As we move forward, our focus will remain on sustaining this level of performance and continuing to safeguard electronic medical data.</a:t>
            </a:r>
          </a:p>
          <a:p>
            <a:pPr>
              <a:spcAft>
                <a:spcPts val="400"/>
              </a:spcAft>
              <a:defRPr sz="1600">
                <a:solidFill>
                  <a:srgbClr val="404040"/>
                </a:solidFill>
              </a:defRPr>
            </a:pPr>
            <a:r>
              <a:t>The integration of AI and IoMT devices in our ITSM tools will be a key strategy to predict and prevent potential IT issues while maintaining high data security standards.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Security Risk Analysis and Preventive Measures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MediConn Solutions conducts bi-annual security risk assessments</a:t>
            </a:r>
          </a:p>
          <a:p>
            <a:pPr>
              <a:spcAft>
                <a:spcPts val="600"/>
              </a:spcAft>
              <a:defRPr sz="1800">
                <a:solidFill>
                  <a:srgbClr val="404040"/>
                </a:solidFill>
              </a:defRPr>
            </a:pPr>
            <a:r>
              <a:t>We utilize a combination of manual and automated penetration testing tools</a:t>
            </a:r>
          </a:p>
          <a:p>
            <a:pPr>
              <a:spcAft>
                <a:spcPts val="600"/>
              </a:spcAft>
              <a:defRPr sz="1800">
                <a:solidFill>
                  <a:srgbClr val="FFC000"/>
                </a:solidFill>
              </a:defRPr>
            </a:pPr>
            <a:r>
              <a:t>The company has a robust disaster recovery plan in place</a:t>
            </a:r>
          </a:p>
          <a:p>
            <a:pPr>
              <a:spcAft>
                <a:spcPts val="600"/>
              </a:spcAft>
              <a:defRPr sz="1800">
                <a:solidFill>
                  <a:srgbClr val="404040"/>
                </a:solidFill>
              </a:defRPr>
            </a:pPr>
            <a:r>
              <a:t>In 2024, we improved our incident detection rate by 20%</a:t>
            </a:r>
          </a:p>
          <a:p>
            <a:pPr>
              <a:spcAft>
                <a:spcPts val="600"/>
              </a:spcAft>
              <a:defRPr sz="1800">
                <a:solidFill>
                  <a:srgbClr val="404040"/>
                </a:solidFill>
              </a:defRPr>
            </a:pPr>
            <a:r>
              <a:t>ITSM tools are programmed to detect and isolate suspicious network activities</a:t>
            </a:r>
          </a:p>
          <a:p>
            <a:pPr>
              <a:spcAft>
                <a:spcPts val="600"/>
              </a:spcAft>
              <a:defRPr sz="1800">
                <a:solidFill>
                  <a:srgbClr val="FFC000"/>
                </a:solidFill>
              </a:defRPr>
            </a:pPr>
            <a:r>
              <a:t>We use a blend of preventive, detective, and corrective controls in our risk management</a:t>
            </a:r>
          </a:p>
          <a:p>
            <a:pPr>
              <a:spcAft>
                <a:spcPts val="600"/>
              </a:spcAft>
              <a:defRPr sz="1800">
                <a:solidFill>
                  <a:srgbClr val="404040"/>
                </a:solidFill>
              </a:defRPr>
            </a:pPr>
            <a:r>
              <a:t>Employee cybersecurity training programs are held quarterly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Enhancing Electronic Medical Data Protection</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Data encryption methods are utilized to protect sensitive medical information during transmission</a:t>
            </a:r>
          </a:p>
          <a:p>
            <a:pPr>
              <a:spcAft>
                <a:spcPts val="600"/>
              </a:spcAft>
              <a:defRPr sz="1800">
                <a:solidFill>
                  <a:srgbClr val="404040"/>
                </a:solidFill>
              </a:defRPr>
            </a:pPr>
            <a:r>
              <a:t>We have a strict data retention policy that complies with all legal requirements</a:t>
            </a:r>
          </a:p>
          <a:p>
            <a:pPr>
              <a:spcAft>
                <a:spcPts val="600"/>
              </a:spcAft>
              <a:defRPr sz="1800">
                <a:solidFill>
                  <a:srgbClr val="FFC000"/>
                </a:solidFill>
              </a:defRPr>
            </a:pPr>
            <a:r>
              <a:t>Regular data backups are performed to prevent data loss</a:t>
            </a:r>
          </a:p>
          <a:p>
            <a:pPr>
              <a:spcAft>
                <a:spcPts val="600"/>
              </a:spcAft>
              <a:defRPr sz="1800">
                <a:solidFill>
                  <a:srgbClr val="404040"/>
                </a:solidFill>
              </a:defRPr>
            </a:pPr>
            <a:r>
              <a:t>Data access is restricted to authorized personnel only</a:t>
            </a:r>
          </a:p>
          <a:p>
            <a:pPr>
              <a:spcAft>
                <a:spcPts val="600"/>
              </a:spcAft>
              <a:defRPr sz="1800">
                <a:solidFill>
                  <a:srgbClr val="404040"/>
                </a:solidFill>
              </a:defRPr>
            </a:pPr>
            <a:r>
              <a:t>We are exploring blockchain technology to further secure patient data</a:t>
            </a:r>
          </a:p>
          <a:p>
            <a:pPr>
              <a:spcAft>
                <a:spcPts val="600"/>
              </a:spcAft>
              <a:defRPr sz="1800">
                <a:solidFill>
                  <a:srgbClr val="FFC000"/>
                </a:solidFill>
              </a:defRPr>
            </a:pPr>
            <a:r>
              <a:t>Patient consent is obtained before their data is shared with third parties</a:t>
            </a:r>
          </a:p>
          <a:p>
            <a:pPr>
              <a:spcAft>
                <a:spcPts val="600"/>
              </a:spcAft>
              <a:defRPr sz="1800">
                <a:solidFill>
                  <a:srgbClr val="404040"/>
                </a:solidFill>
              </a:defRPr>
            </a:pPr>
            <a:r>
              <a:t>User access logs are monitored to detect any unauthorized access attempts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C000"/>
                </a:solidFill>
              </a:defRPr>
            </a:pPr>
            <a:r>
              <a:t>Through a comprehensive review of our current ITSM security protocols, risk analysis, and implementation of enhanced data protection measures, we can ensure the safety and compliance of our virtual healthcare services. Let's continue to work together in providing secure and cost-effective care for our patients.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