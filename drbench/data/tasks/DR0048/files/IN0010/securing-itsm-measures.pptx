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Securing ITSM: Compliance and Preventive Measures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expand our virtual healthcare services, the importance of securing our IT infrastructure and data cannot be overstated. This presentation will outline how our ITSM team can enhance security protocols, ensure regulatory compliance, and guard against potential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Current ITSM Security Protocols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deployment of ITSM and AI tools has enhanced system monitoring, contributing to a 10% increase in uptime for our essential healthcare applications.</a:t>
            </a:r>
          </a:p>
          <a:p>
            <a:pPr>
              <a:spcAft>
                <a:spcPts val="600"/>
              </a:spcAft>
              <a:defRPr sz="1800">
                <a:solidFill>
                  <a:srgbClr val="404040"/>
                </a:solidFill>
              </a:defRPr>
            </a:pPr>
            <a:r>
              <a:t>Our ITSM optimization in 2024 has led to visible improvements in application reliability and availability, vital for our digital healthcare services.</a:t>
            </a:r>
          </a:p>
          <a:p>
            <a:pPr>
              <a:spcAft>
                <a:spcPts val="600"/>
              </a:spcAft>
              <a:defRPr sz="1800">
                <a:solidFill>
                  <a:srgbClr val="FFC000"/>
                </a:solidFill>
              </a:defRPr>
            </a:pPr>
            <a:r>
              <a:t>The improved uptime is a significant step towards offering consistent, uninterrupted access to healthcare services for our patients and businesses.</a:t>
            </a:r>
          </a:p>
          <a:p>
            <a:pPr>
              <a:spcAft>
                <a:spcPts val="600"/>
              </a:spcAft>
              <a:defRPr sz="1800">
                <a:solidFill>
                  <a:srgbClr val="404040"/>
                </a:solidFill>
              </a:defRPr>
            </a:pPr>
            <a:r>
              <a:t>With the enhanced system uptime, we've seen a decrease in incident response times, increasing our overall service efficiency.</a:t>
            </a:r>
          </a:p>
          <a:p>
            <a:pPr>
              <a:spcAft>
                <a:spcPts val="600"/>
              </a:spcAft>
              <a:defRPr sz="1800">
                <a:solidFill>
                  <a:srgbClr val="404040"/>
                </a:solidFill>
              </a:defRPr>
            </a:pPr>
            <a:r>
              <a:t>The use of AI in conjunction with ITSM tools has enabled us to predict and prevent potential IT issues, enhancing our data security measures.</a:t>
            </a:r>
          </a:p>
          <a:p>
            <a:pPr>
              <a:spcAft>
                <a:spcPts val="600"/>
              </a:spcAft>
              <a:defRPr sz="1800">
                <a:solidFill>
                  <a:srgbClr val="FFC000"/>
                </a:solidFill>
              </a:defRPr>
            </a:pPr>
            <a:r>
              <a:t>Our focus on ITSM optimization is aligned with the industry trend to leverage ITSM for better data protection, as indicated by recent articles published on TOPdesk.</a:t>
            </a:r>
          </a:p>
          <a:p>
            <a:pPr>
              <a:spcAft>
                <a:spcPts val="600"/>
              </a:spcAft>
              <a:defRPr sz="1800">
                <a:solidFill>
                  <a:srgbClr val="404040"/>
                </a:solidFill>
              </a:defRPr>
            </a:pPr>
            <a:r>
              <a:t>Ensuring the security of sensitive medical data is a top priority for MediConn Solutions, with ITSM playing a crucial role in achieving this.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Regulatory Compliance in Virtual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Solutions has always complied with the Health Insurance Portability and Accountability Act (HIPAA).</a:t>
            </a:r>
          </a:p>
          <a:p>
            <a:pPr>
              <a:spcAft>
                <a:spcPts val="400"/>
              </a:spcAft>
              <a:defRPr sz="1600">
                <a:solidFill>
                  <a:srgbClr val="404040"/>
                </a:solidFill>
              </a:defRPr>
            </a:pPr>
            <a:r>
              <a:t>Our ITSM team ensures regular compliance checks to adhere to the Personal Information Protection and Electronic Documents Act (PIPEDA).</a:t>
            </a:r>
          </a:p>
          <a:p>
            <a:pPr>
              <a:spcAft>
                <a:spcPts val="400"/>
              </a:spcAft>
              <a:defRPr sz="1600">
                <a:solidFill>
                  <a:srgbClr val="FFC000"/>
                </a:solidFill>
              </a:defRPr>
            </a:pPr>
            <a:r>
              <a:t>We have a dedicated compliance team that works directly with the IT Operations department.</a:t>
            </a:r>
          </a:p>
          <a:p>
            <a:pPr>
              <a:spcAft>
                <a:spcPts val="400"/>
              </a:spcAft>
              <a:defRPr sz="1600">
                <a:solidFill>
                  <a:srgbClr val="404040"/>
                </a:solidFill>
              </a:defRPr>
            </a:pPr>
            <a:r>
              <a:t>The company underwent a major compliance audit in 2024, with no significant findings.</a:t>
            </a:r>
          </a:p>
          <a:p>
            <a:pPr>
              <a:spcAft>
                <a:spcPts val="400"/>
              </a:spcAft>
              <a:defRPr sz="1600">
                <a:solidFill>
                  <a:srgbClr val="404040"/>
                </a:solidFill>
              </a:defRPr>
            </a:pPr>
            <a:r>
              <a:t>MediConn Solutions is also compliant with GDPR rules for our European patient base.</a:t>
            </a:r>
          </a:p>
          <a:p>
            <a:pPr>
              <a:spcAft>
                <a:spcPts val="400"/>
              </a:spcAft>
              <a:defRPr sz="1600">
                <a:solidFill>
                  <a:srgbClr val="FFC000"/>
                </a:solidFill>
              </a:defRPr>
            </a:pPr>
            <a:r>
              <a:t>The company has a robust training program to ensure IT staff are up-to-date with the latest regulatory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Preventive Measures Against Security Risks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has a proactive approach towards managing IT security risks.</a:t>
            </a:r>
          </a:p>
          <a:p>
            <a:pPr>
              <a:spcAft>
                <a:spcPts val="600"/>
              </a:spcAft>
              <a:defRPr sz="1800">
                <a:solidFill>
                  <a:srgbClr val="404040"/>
                </a:solidFill>
              </a:defRPr>
            </a:pPr>
            <a:r>
              <a:t>We use AI-enabled tools for predicting potential IT security issues.</a:t>
            </a:r>
          </a:p>
          <a:p>
            <a:pPr>
              <a:spcAft>
                <a:spcPts val="600"/>
              </a:spcAft>
              <a:defRPr sz="1800">
                <a:solidFill>
                  <a:srgbClr val="FFC000"/>
                </a:solidFill>
              </a:defRPr>
            </a:pPr>
            <a:r>
              <a:t>The company has a comprehensive incident response plan in case of a security breach.</a:t>
            </a:r>
          </a:p>
          <a:p>
            <a:pPr>
              <a:spcAft>
                <a:spcPts val="600"/>
              </a:spcAft>
              <a:defRPr sz="1800">
                <a:solidFill>
                  <a:srgbClr val="404040"/>
                </a:solidFill>
              </a:defRPr>
            </a:pPr>
            <a:r>
              <a:t>As of 2025, we have had no successful cyberattack incidents.</a:t>
            </a:r>
          </a:p>
          <a:p>
            <a:pPr>
              <a:spcAft>
                <a:spcPts val="600"/>
              </a:spcAft>
              <a:defRPr sz="1800">
                <a:solidFill>
                  <a:srgbClr val="404040"/>
                </a:solidFill>
              </a:defRPr>
            </a:pPr>
            <a:r>
              <a:t>The IT Operations department conducts regular IT risk assessments.</a:t>
            </a:r>
          </a:p>
          <a:p>
            <a:pPr>
              <a:spcAft>
                <a:spcPts val="600"/>
              </a:spcAft>
              <a:defRPr sz="1800">
                <a:solidFill>
                  <a:srgbClr val="FFC000"/>
                </a:solidFill>
              </a:defRPr>
            </a:pPr>
            <a:r>
              <a:t>Our ITSM solution includes a feature that automates routine security tasks.</a:t>
            </a:r>
          </a:p>
          <a:p>
            <a:pPr>
              <a:spcAft>
                <a:spcPts val="600"/>
              </a:spcAft>
              <a:defRPr sz="1800">
                <a:solidFill>
                  <a:srgbClr val="404040"/>
                </a:solidFill>
              </a:defRPr>
            </a:pPr>
            <a:r>
              <a:t>We employ a multi-layered security approach to protect against different types of cyber threats.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enhancing our security protocols, maintaining regulatory compliance, and implementing preventive measures, we can effectively secure our IT infrastructure and data. Let's move forward together to ensure a secure and reliable IT service experience for our employees and customers.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