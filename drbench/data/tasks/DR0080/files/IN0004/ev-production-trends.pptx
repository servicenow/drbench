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8080"/>
                </a:solidFill>
              </a:defRPr>
            </a:pPr>
            <a:r>
              <a:t>Emerging Trends in EV Production Landscape</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will explore the developments in battery technology and EV supply chains as indicated by the 2024 iea.org report. We aim to understand how these trends could impact our global production and delivery by Q2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Battery Technology Advancements and Implications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Elexion's R&amp;D tracking indicates that as of Q1 2026, 30% of our EV prototypes are powered by emerging battery technologies</a:t>
            </a:r>
          </a:p>
          <a:p>
            <a:pPr>
              <a:spcAft>
                <a:spcPts val="400"/>
              </a:spcAft>
              <a:defRPr sz="1600">
                <a:solidFill>
                  <a:srgbClr val="404040"/>
                </a:solidFill>
              </a:defRPr>
            </a:pPr>
            <a:r>
              <a:t>Specifically, a significant 22% of these prototypes are utilizing solid-state batteries, a technology that enhances energy density and reduces costs</a:t>
            </a:r>
          </a:p>
          <a:p>
            <a:pPr>
              <a:spcAft>
                <a:spcPts val="400"/>
              </a:spcAft>
              <a:defRPr sz="1600">
                <a:solidFill>
                  <a:srgbClr val="FF6347"/>
                </a:solidFill>
              </a:defRPr>
            </a:pPr>
            <a:r>
              <a:t>Additionally, 8% of our prototypes are equipped with sodium-ion batteries, a promising alternative contributing to diversification in battery technology</a:t>
            </a:r>
          </a:p>
          <a:p>
            <a:pPr>
              <a:spcAft>
                <a:spcPts val="400"/>
              </a:spcAft>
              <a:defRPr sz="1600">
                <a:solidFill>
                  <a:srgbClr val="404040"/>
                </a:solidFill>
              </a:defRPr>
            </a:pPr>
            <a:r>
              <a:t>Despite these advancements, lithium-ion batteries maintain a strong presence, powering 70% of our current prototypes</a:t>
            </a:r>
          </a:p>
          <a:p>
            <a:pPr>
              <a:spcAft>
                <a:spcPts val="400"/>
              </a:spcAft>
              <a:defRPr sz="1600">
                <a:solidFill>
                  <a:srgbClr val="404040"/>
                </a:solidFill>
              </a:defRPr>
            </a:pPr>
            <a:r>
              <a:t>These shifts in battery technology are in line with global trends as highlighted in the 2024 iea.org report, suggesting a strategic alignment with market demands</a:t>
            </a:r>
          </a:p>
          <a:p>
            <a:pPr>
              <a:spcAft>
                <a:spcPts val="400"/>
              </a:spcAft>
              <a:defRPr sz="1600">
                <a:solidFill>
                  <a:srgbClr val="FF6347"/>
                </a:solidFill>
              </a:defRPr>
            </a:pPr>
            <a:r>
              <a:t>As battery manufacturing expands outside China, our adoption of these emerging technologies could enhance our supply resilience</a:t>
            </a:r>
          </a:p>
          <a:p>
            <a:pPr>
              <a:spcAft>
                <a:spcPts val="400"/>
              </a:spcAft>
              <a:defRPr sz="1600">
                <a:solidFill>
                  <a:srgbClr val="404040"/>
                </a:solidFill>
              </a:defRPr>
            </a:pPr>
            <a:r>
              <a:t>However, the rising demand for minerals essential for battery production could potentially create supply bottlenecks, impacting our EV production and delivery timelines by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Evolving Dynamics of EV Supply Chains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Examination of Elexion's current supply chain structure and key partners</a:t>
            </a:r>
          </a:p>
          <a:p>
            <a:pPr>
              <a:spcAft>
                <a:spcPts val="600"/>
              </a:spcAft>
              <a:defRPr sz="1800">
                <a:solidFill>
                  <a:srgbClr val="404040"/>
                </a:solidFill>
              </a:defRPr>
            </a:pPr>
            <a:r>
              <a:t>Analysis of EV supply chain challenges during the COVID-19 pandemic</a:t>
            </a:r>
          </a:p>
          <a:p>
            <a:pPr>
              <a:spcAft>
                <a:spcPts val="600"/>
              </a:spcAft>
              <a:defRPr sz="1800">
                <a:solidFill>
                  <a:srgbClr val="FF6347"/>
                </a:solidFill>
              </a:defRPr>
            </a:pPr>
            <a:r>
              <a:t>Overview of Elexion's contingency plans for supply chain disruptions</a:t>
            </a:r>
          </a:p>
          <a:p>
            <a:pPr>
              <a:spcAft>
                <a:spcPts val="600"/>
              </a:spcAft>
              <a:defRPr sz="1800">
                <a:solidFill>
                  <a:srgbClr val="404040"/>
                </a:solidFill>
              </a:defRPr>
            </a:pPr>
            <a:r>
              <a:t>Discussion on the role of strategic sourcing in Elexion's supply chain management</a:t>
            </a:r>
          </a:p>
          <a:p>
            <a:pPr>
              <a:spcAft>
                <a:spcPts val="600"/>
              </a:spcAft>
              <a:defRPr sz="1800">
                <a:solidFill>
                  <a:srgbClr val="404040"/>
                </a:solidFill>
              </a:defRPr>
            </a:pPr>
            <a:r>
              <a:t>Details on Elexion's logistics and distribution network</a:t>
            </a:r>
          </a:p>
          <a:p>
            <a:pPr>
              <a:spcAft>
                <a:spcPts val="600"/>
              </a:spcAft>
              <a:defRPr sz="1800">
                <a:solidFill>
                  <a:srgbClr val="FF6347"/>
                </a:solidFill>
              </a:defRPr>
            </a:pPr>
            <a:r>
              <a:t>Review of industry best practices in EV supply chain management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Potential Impact on Elexion's Production and Delivery</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Breakdown of Elexion's production volumes and delivery timelines from 2020 to 2024</a:t>
            </a:r>
          </a:p>
          <a:p>
            <a:pPr>
              <a:spcAft>
                <a:spcPts val="600"/>
              </a:spcAft>
              <a:defRPr sz="1800">
                <a:solidFill>
                  <a:srgbClr val="404040"/>
                </a:solidFill>
              </a:defRPr>
            </a:pPr>
            <a:r>
              <a:t>Discussion on Elexion's manufacturing efficiency and production capacity utilization</a:t>
            </a:r>
          </a:p>
          <a:p>
            <a:pPr>
              <a:spcAft>
                <a:spcPts val="600"/>
              </a:spcAft>
              <a:defRPr sz="1800">
                <a:solidFill>
                  <a:srgbClr val="FF6347"/>
                </a:solidFill>
              </a:defRPr>
            </a:pPr>
            <a:r>
              <a:t>Analysis of the impact of tariffs and trade regulations on Elexion's operations</a:t>
            </a:r>
          </a:p>
          <a:p>
            <a:pPr>
              <a:spcAft>
                <a:spcPts val="600"/>
              </a:spcAft>
              <a:defRPr sz="1800">
                <a:solidFill>
                  <a:srgbClr val="404040"/>
                </a:solidFill>
              </a:defRPr>
            </a:pPr>
            <a:r>
              <a:t>Overview of Elexion's commitment to local sourcing and manufacturing</a:t>
            </a:r>
          </a:p>
          <a:p>
            <a:pPr>
              <a:spcAft>
                <a:spcPts val="600"/>
              </a:spcAft>
              <a:defRPr sz="1800">
                <a:solidFill>
                  <a:srgbClr val="404040"/>
                </a:solidFill>
              </a:defRPr>
            </a:pPr>
            <a:r>
              <a:t>Insights on Elexion's customer satisfaction metrics related to delivery performance</a:t>
            </a:r>
          </a:p>
          <a:p>
            <a:pPr>
              <a:spcAft>
                <a:spcPts val="600"/>
              </a:spcAft>
              <a:defRPr sz="1800">
                <a:solidFill>
                  <a:srgbClr val="FF6347"/>
                </a:solidFill>
              </a:defRPr>
            </a:pPr>
            <a:r>
              <a:t>Review of Elexion's strategies for managing production and delivery risks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6347"/>
                </a:solidFill>
              </a:defRPr>
            </a:pPr>
            <a:r>
              <a:t>Understanding these emerging trends will enable us to stay competitive and adapt our strategies accordingly. Let's leverage these insights to improve our production processes and delivery systems for a sustainable future.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