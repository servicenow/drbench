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pPr>
              <a:defRPr sz="4400" b="1">
                <a:solidFill>
                  <a:srgbClr val="008080"/>
                </a:solidFill>
              </a:defRPr>
            </a:pPr>
            <a:r>
              <a:t>Amplifying Online Sales: A Youth-Centric Approach</a:t>
            </a:r>
          </a:p>
        </p:txBody>
      </p:sp>
      <p:sp>
        <p:nvSpPr>
          <p:cNvPr id="3" name="Subtitle 2"/>
          <p:cNvSpPr>
            <a:spLocks noGrp="1"/>
          </p:cNvSpPr>
          <p:nvPr>
            <p:ph type="subTitle" idx="1"/>
          </p:nvPr>
        </p:nvSpPr>
        <p:spPr/>
        <p:txBody>
          <a:bodyPr/>
          <a:lstStyle/>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008080"/>
                </a:solidFill>
              </a:defRPr>
            </a:pPr>
            <a:r>
              <a:t>Introduction</a:t>
            </a:r>
          </a:p>
        </p:txBody>
      </p:sp>
      <p:sp>
        <p:nvSpPr>
          <p:cNvPr id="3" name="Content Placeholder 2"/>
          <p:cNvSpPr>
            <a:spLocks noGrp="1"/>
          </p:cNvSpPr>
          <p:nvPr>
            <p:ph idx="1"/>
          </p:nvPr>
        </p:nvSpPr>
        <p:spPr/>
        <p:txBody>
          <a:bodyPr/>
          <a:lstStyle/>
          <a:p/>
          <a:p>
            <a:pPr>
              <a:spcAft>
                <a:spcPts val="800"/>
              </a:spcAft>
              <a:defRPr sz="1800">
                <a:solidFill>
                  <a:srgbClr val="404040"/>
                </a:solidFill>
              </a:defRPr>
            </a:pPr>
            <a:r>
              <a:t>This presentation aims to explore strategies to boost our online sales by engaging younger consumers. We will also discuss how we can differentiate Lee's Market in the highly competitive Canadian retail industry.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008080"/>
                </a:solidFill>
              </a:defRPr>
            </a:pPr>
            <a:r>
              <a:t>Understanding The Younger Consumer Market</a:t>
            </a:r>
          </a:p>
        </p:txBody>
      </p:sp>
      <p:sp>
        <p:nvSpPr>
          <p:cNvPr id="3" name="Content Placeholder 2"/>
          <p:cNvSpPr>
            <a:spLocks noGrp="1"/>
          </p:cNvSpPr>
          <p:nvPr>
            <p:ph idx="1"/>
          </p:nvPr>
        </p:nvSpPr>
        <p:spPr>
          <a:xfrm>
            <a:off x="457200" y="1828800"/>
            <a:ext cx="4114800" cy="3657600"/>
          </a:xfrm>
        </p:spPr>
        <p:txBody>
          <a:bodyPr/>
          <a:lstStyle/>
          <a:p/>
          <a:p>
            <a:pPr>
              <a:spcAft>
                <a:spcPts val="400"/>
              </a:spcAft>
              <a:defRPr sz="1600">
                <a:solidFill>
                  <a:srgbClr val="404040"/>
                </a:solidFill>
              </a:defRPr>
            </a:pPr>
            <a:r>
              <a:t>Our analysis from Q3 2024 to Q3 2025 reveals that our younger demographic (18-35) has a repeat purchase rate of approximately 35%.</a:t>
            </a:r>
          </a:p>
          <a:p>
            <a:pPr>
              <a:spcAft>
                <a:spcPts val="400"/>
              </a:spcAft>
              <a:defRPr sz="1600">
                <a:solidFill>
                  <a:srgbClr val="404040"/>
                </a:solidFill>
              </a:defRPr>
            </a:pPr>
            <a:r>
              <a:t>The average time a younger customer takes to make a repeat purchase is approximately 30 days.</a:t>
            </a:r>
          </a:p>
          <a:p>
            <a:pPr>
              <a:spcAft>
                <a:spcPts val="400"/>
              </a:spcAft>
              <a:defRPr sz="1600">
                <a:solidFill>
                  <a:srgbClr val="FF6347"/>
                </a:solidFill>
              </a:defRPr>
            </a:pPr>
            <a:r>
              <a:t>The data focused on retention and repeat purchase trends amongst our younger consumers.</a:t>
            </a:r>
          </a:p>
          <a:p>
            <a:pPr>
              <a:spcAft>
                <a:spcPts val="400"/>
              </a:spcAft>
              <a:defRPr sz="1600">
                <a:solidFill>
                  <a:srgbClr val="404040"/>
                </a:solidFill>
              </a:defRPr>
            </a:pPr>
            <a:r>
              <a:t>By establishing a baseline of these trends, we can gauge the effectiveness of our current digital engagement and loyalty strategies.</a:t>
            </a:r>
          </a:p>
          <a:p>
            <a:pPr>
              <a:spcAft>
                <a:spcPts val="400"/>
              </a:spcAft>
              <a:defRPr sz="1600">
                <a:solidFill>
                  <a:srgbClr val="404040"/>
                </a:solidFill>
              </a:defRPr>
            </a:pPr>
            <a:r>
              <a:t>The data serves as a foundation for setting realistic targets, such as a 25% increase in customer retention by Q1 2026.</a:t>
            </a:r>
          </a:p>
          <a:p>
            <a:pPr>
              <a:spcAft>
                <a:spcPts val="400"/>
              </a:spcAft>
              <a:defRPr sz="1600">
                <a:solidFill>
                  <a:srgbClr val="FF6347"/>
                </a:solidFill>
              </a:defRPr>
            </a:pPr>
            <a:r>
              <a:t>The metrics also help point out which initiatives have the most significant impact on repeat customer behavior.</a:t>
            </a:r>
          </a:p>
          <a:p>
            <a:pPr>
              <a:spcAft>
                <a:spcPts val="400"/>
              </a:spcAft>
              <a:defRPr sz="1600">
                <a:solidFill>
                  <a:srgbClr val="404040"/>
                </a:solidFill>
              </a:defRPr>
            </a:pPr>
            <a:r>
              <a:t>Utilizing this data, we can refine our strategies to boost online sales by 20% by targeting this demographic and differentiating ourselves from competitors.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008080"/>
                </a:solidFill>
              </a:defRPr>
            </a:pPr>
            <a:r>
              <a:t>E-commerce Trends and Dominant Players</a:t>
            </a:r>
          </a:p>
        </p:txBody>
      </p:sp>
      <p:sp>
        <p:nvSpPr>
          <p:cNvPr id="3" name="Content Placeholder 2"/>
          <p:cNvSpPr>
            <a:spLocks noGrp="1"/>
          </p:cNvSpPr>
          <p:nvPr>
            <p:ph idx="1"/>
          </p:nvPr>
        </p:nvSpPr>
        <p:spPr/>
        <p:txBody>
          <a:bodyPr/>
          <a:lstStyle/>
          <a:p/>
          <a:p>
            <a:pPr>
              <a:spcAft>
                <a:spcPts val="600"/>
              </a:spcAft>
              <a:defRPr sz="1800">
                <a:solidFill>
                  <a:srgbClr val="404040"/>
                </a:solidFill>
              </a:defRPr>
            </a:pPr>
            <a:r>
              <a:t>Global e-commerce sales growth from 2000 to 2020</a:t>
            </a:r>
          </a:p>
          <a:p>
            <a:pPr>
              <a:spcAft>
                <a:spcPts val="600"/>
              </a:spcAft>
              <a:defRPr sz="1800">
                <a:solidFill>
                  <a:srgbClr val="404040"/>
                </a:solidFill>
              </a:defRPr>
            </a:pPr>
            <a:r>
              <a:t>Dominant e-commerce players in the US and China</a:t>
            </a:r>
          </a:p>
          <a:p>
            <a:pPr>
              <a:spcAft>
                <a:spcPts val="600"/>
              </a:spcAft>
              <a:defRPr sz="1800">
                <a:solidFill>
                  <a:srgbClr val="FF6347"/>
                </a:solidFill>
              </a:defRPr>
            </a:pPr>
            <a:r>
              <a:t>Analysis of Amazon's business model</a:t>
            </a:r>
          </a:p>
          <a:p>
            <a:pPr>
              <a:spcAft>
                <a:spcPts val="600"/>
              </a:spcAft>
              <a:defRPr sz="1800">
                <a:solidFill>
                  <a:srgbClr val="404040"/>
                </a:solidFill>
              </a:defRPr>
            </a:pPr>
            <a:r>
              <a:t>Overview of Alibaba's expansion strategy in Asia</a:t>
            </a:r>
          </a:p>
          <a:p>
            <a:pPr>
              <a:spcAft>
                <a:spcPts val="600"/>
              </a:spcAft>
              <a:defRPr sz="1800">
                <a:solidFill>
                  <a:srgbClr val="404040"/>
                </a:solidFill>
              </a:defRPr>
            </a:pPr>
            <a:r>
              <a:t>Comparison between eBay and Walmart's online platforms</a:t>
            </a:r>
          </a:p>
          <a:p>
            <a:pPr>
              <a:spcAft>
                <a:spcPts val="600"/>
              </a:spcAft>
              <a:defRPr sz="1800">
                <a:solidFill>
                  <a:srgbClr val="FF6347"/>
                </a:solidFill>
              </a:defRPr>
            </a:pPr>
            <a:r>
              <a:t>Evolution of Shopify's service offerings over the years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008080"/>
                </a:solidFill>
              </a:defRPr>
            </a:pPr>
            <a:r>
              <a:t>Crafting Lee's Market's Online Sales Strategy</a:t>
            </a:r>
          </a:p>
        </p:txBody>
      </p:sp>
      <p:sp>
        <p:nvSpPr>
          <p:cNvPr id="3" name="Content Placeholder 2"/>
          <p:cNvSpPr>
            <a:spLocks noGrp="1"/>
          </p:cNvSpPr>
          <p:nvPr>
            <p:ph idx="1"/>
          </p:nvPr>
        </p:nvSpPr>
        <p:spPr/>
        <p:txBody>
          <a:bodyPr/>
          <a:lstStyle/>
          <a:p/>
          <a:p>
            <a:pPr>
              <a:spcAft>
                <a:spcPts val="600"/>
              </a:spcAft>
              <a:defRPr sz="1800">
                <a:solidFill>
                  <a:srgbClr val="404040"/>
                </a:solidFill>
              </a:defRPr>
            </a:pPr>
            <a:r>
              <a:t>Overview of Lee's Market's brick-and-mortar sales strategy</a:t>
            </a:r>
          </a:p>
          <a:p>
            <a:pPr>
              <a:spcAft>
                <a:spcPts val="600"/>
              </a:spcAft>
              <a:defRPr sz="1800">
                <a:solidFill>
                  <a:srgbClr val="404040"/>
                </a:solidFill>
              </a:defRPr>
            </a:pPr>
            <a:r>
              <a:t>Analysis of Lee's Market's previous marketing campaigns</a:t>
            </a:r>
          </a:p>
          <a:p>
            <a:pPr>
              <a:spcAft>
                <a:spcPts val="600"/>
              </a:spcAft>
              <a:defRPr sz="1800">
                <a:solidFill>
                  <a:srgbClr val="FF6347"/>
                </a:solidFill>
              </a:defRPr>
            </a:pPr>
            <a:r>
              <a:t>Breakdown of Lee's Market's current product mix</a:t>
            </a:r>
          </a:p>
          <a:p>
            <a:pPr>
              <a:spcAft>
                <a:spcPts val="600"/>
              </a:spcAft>
              <a:defRPr sz="1800">
                <a:solidFill>
                  <a:srgbClr val="404040"/>
                </a:solidFill>
              </a:defRPr>
            </a:pPr>
            <a:r>
              <a:t>Evaluation of Lee's Market's supply chain efficiency</a:t>
            </a:r>
          </a:p>
          <a:p>
            <a:pPr>
              <a:spcAft>
                <a:spcPts val="600"/>
              </a:spcAft>
              <a:defRPr sz="1800">
                <a:solidFill>
                  <a:srgbClr val="404040"/>
                </a:solidFill>
              </a:defRPr>
            </a:pPr>
            <a:r>
              <a:t>Overview of Lee's Market's customer service initiatives</a:t>
            </a:r>
          </a:p>
          <a:p>
            <a:pPr>
              <a:spcAft>
                <a:spcPts val="600"/>
              </a:spcAft>
              <a:defRPr sz="1800">
                <a:solidFill>
                  <a:srgbClr val="FF6347"/>
                </a:solidFill>
              </a:defRPr>
            </a:pPr>
            <a:r>
              <a:t>Review of Lee's Market's sustainability efforts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008080"/>
                </a:solidFill>
              </a:defRPr>
            </a:pPr>
            <a:r>
              <a:t>Conclusion</a:t>
            </a:r>
          </a:p>
        </p:txBody>
      </p:sp>
      <p:sp>
        <p:nvSpPr>
          <p:cNvPr id="3" name="Content Placeholder 2"/>
          <p:cNvSpPr>
            <a:spLocks noGrp="1"/>
          </p:cNvSpPr>
          <p:nvPr>
            <p:ph idx="1"/>
          </p:nvPr>
        </p:nvSpPr>
        <p:spPr/>
        <p:txBody>
          <a:bodyPr/>
          <a:lstStyle/>
          <a:p/>
          <a:p>
            <a:pPr>
              <a:spcAft>
                <a:spcPts val="800"/>
              </a:spcAft>
              <a:defRPr sz="1800" b="1">
                <a:solidFill>
                  <a:srgbClr val="FF6347"/>
                </a:solidFill>
              </a:defRPr>
            </a:pPr>
            <a:r>
              <a:t>By understanding the younger consumer's behaviors and current e-commerce trends, we can tailor our online sales strategy to effectively increase sales and set Lee's Market apart. Let's proceed with the strategic implementation and continuously monitor our performance against set targets.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