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ctrTitle"/>
          </p:nvPr>
        </p:nvSpPr>
        <p:spPr/>
        <p:txBody>
          <a:bodyPr/>
          <a:lstStyle/>
          <a:p>
            <a:pPr>
              <a:defRPr sz="4400" b="1">
                <a:solidFill>
                  <a:srgbClr val="0070C0"/>
                </a:solidFill>
              </a:defRPr>
            </a:pPr>
            <a:r>
              <a:t>Lee's Market School Festival Sponsorships: 2022 Impact</a:t>
            </a:r>
          </a:p>
        </p:txBody>
      </p:sp>
      <p:sp>
        <p:nvSpPr>
          <p:cNvPr id="3" name="Subtitle 2"/>
          <p:cNvSpPr>
            <a:spLocks noGrp="1"/>
          </p:cNvSpPr>
          <p:nvPr>
            <p:ph type="subTitle" idx="1"/>
          </p:nvPr>
        </p:nvSpPr>
        <p:spPr/>
        <p:txBody>
          <a:bodyPr/>
          <a:lstStyle/>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Introduction</a:t>
            </a:r>
          </a:p>
        </p:txBody>
      </p:sp>
      <p:sp>
        <p:nvSpPr>
          <p:cNvPr id="3" name="Content Placeholder 2"/>
          <p:cNvSpPr>
            <a:spLocks noGrp="1"/>
          </p:cNvSpPr>
          <p:nvPr>
            <p:ph idx="1"/>
          </p:nvPr>
        </p:nvSpPr>
        <p:spPr/>
        <p:txBody>
          <a:bodyPr/>
          <a:lstStyle/>
          <a:p/>
          <a:p>
            <a:pPr>
              <a:spcAft>
                <a:spcPts val="800"/>
              </a:spcAft>
              <a:defRPr sz="1800">
                <a:solidFill>
                  <a:srgbClr val="404040"/>
                </a:solidFill>
              </a:defRPr>
            </a:pPr>
            <a:r>
              <a:t>This presentation explores the impact of our sponsorships of local school festivals in 2022. We'll delve into the overall response and its implications for Lee's Market's brand reputation.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Overview of 2022 Sponsorship Initiatives</a:t>
            </a:r>
          </a:p>
        </p:txBody>
      </p:sp>
      <p:sp>
        <p:nvSpPr>
          <p:cNvPr id="3" name="Content Placeholder 2"/>
          <p:cNvSpPr>
            <a:spLocks noGrp="1"/>
          </p:cNvSpPr>
          <p:nvPr>
            <p:ph idx="1"/>
          </p:nvPr>
        </p:nvSpPr>
        <p:spPr>
          <a:xfrm>
            <a:off x="457200" y="1828800"/>
            <a:ext cx="4114800" cy="3657600"/>
          </a:xfrm>
        </p:spPr>
        <p:txBody>
          <a:bodyPr/>
          <a:lstStyle/>
          <a:p/>
          <a:p>
            <a:pPr>
              <a:spcAft>
                <a:spcPts val="400"/>
              </a:spcAft>
              <a:defRPr sz="1600">
                <a:solidFill>
                  <a:srgbClr val="404040"/>
                </a:solidFill>
              </a:defRPr>
            </a:pPr>
            <a:r>
              <a:t>Launched an in-store sponsorship program that attracted local businesses</a:t>
            </a:r>
          </a:p>
          <a:p>
            <a:pPr>
              <a:spcAft>
                <a:spcPts val="400"/>
              </a:spcAft>
              <a:defRPr sz="1600">
                <a:solidFill>
                  <a:srgbClr val="404040"/>
                </a:solidFill>
              </a:defRPr>
            </a:pPr>
            <a:r>
              <a:t>Total sponsorship budget of $200,000 allocated across various initiatives</a:t>
            </a:r>
          </a:p>
          <a:p>
            <a:pPr>
              <a:spcAft>
                <a:spcPts val="400"/>
              </a:spcAft>
              <a:defRPr sz="1600">
                <a:solidFill>
                  <a:srgbClr val="FFC000"/>
                </a:solidFill>
              </a:defRPr>
            </a:pPr>
            <a:r>
              <a:t>Collaborated with our marketing and PR teams to maximize sponsorship visibility</a:t>
            </a:r>
          </a:p>
          <a:p>
            <a:pPr>
              <a:spcAft>
                <a:spcPts val="400"/>
              </a:spcAft>
              <a:defRPr sz="1600">
                <a:solidFill>
                  <a:srgbClr val="404040"/>
                </a:solidFill>
              </a:defRPr>
            </a:pPr>
            <a:r>
              <a:t>Engaged with various potential sponsors during trade fairs and industry events</a:t>
            </a:r>
          </a:p>
          <a:p>
            <a:pPr>
              <a:spcAft>
                <a:spcPts val="400"/>
              </a:spcAft>
              <a:defRPr sz="1600">
                <a:solidFill>
                  <a:srgbClr val="404040"/>
                </a:solidFill>
              </a:defRPr>
            </a:pPr>
            <a:r>
              <a:t>Implemented a new software to better track and manage sponsorship opportunities</a:t>
            </a:r>
          </a:p>
          <a:p>
            <a:pPr>
              <a:spcAft>
                <a:spcPts val="400"/>
              </a:spcAft>
              <a:defRPr sz="1600">
                <a:solidFill>
                  <a:srgbClr val="FFC000"/>
                </a:solidFill>
              </a:defRPr>
            </a:pPr>
            <a:r>
              <a:t>Developed a comprehensive sponsorship training program for our sales team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Community Response and Brand Perception</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Conducted a customer survey to gauge overall brand perception</a:t>
            </a:r>
          </a:p>
          <a:p>
            <a:pPr>
              <a:spcAft>
                <a:spcPts val="600"/>
              </a:spcAft>
              <a:defRPr sz="1800">
                <a:solidFill>
                  <a:srgbClr val="404040"/>
                </a:solidFill>
              </a:defRPr>
            </a:pPr>
            <a:r>
              <a:t>Implemented a new social media strategy to enhance community engagement</a:t>
            </a:r>
          </a:p>
          <a:p>
            <a:pPr>
              <a:spcAft>
                <a:spcPts val="600"/>
              </a:spcAft>
              <a:defRPr sz="1800">
                <a:solidFill>
                  <a:srgbClr val="FFC000"/>
                </a:solidFill>
              </a:defRPr>
            </a:pPr>
            <a:r>
              <a:t>Collaborated with local influencers to amplify brand visibility</a:t>
            </a:r>
          </a:p>
          <a:p>
            <a:pPr>
              <a:spcAft>
                <a:spcPts val="600"/>
              </a:spcAft>
              <a:defRPr sz="1800">
                <a:solidFill>
                  <a:srgbClr val="404040"/>
                </a:solidFill>
              </a:defRPr>
            </a:pPr>
            <a:r>
              <a:t>Launched a new CSR initiative to improve brand image in the community</a:t>
            </a:r>
          </a:p>
          <a:p>
            <a:pPr>
              <a:spcAft>
                <a:spcPts val="600"/>
              </a:spcAft>
              <a:defRPr sz="1800">
                <a:solidFill>
                  <a:srgbClr val="404040"/>
                </a:solidFill>
              </a:defRPr>
            </a:pPr>
            <a:r>
              <a:t>Conducted regular touchpoints with community leaders to understand their needs better</a:t>
            </a:r>
          </a:p>
          <a:p>
            <a:pPr>
              <a:spcAft>
                <a:spcPts val="600"/>
              </a:spcAft>
              <a:defRPr sz="1800">
                <a:solidFill>
                  <a:srgbClr val="FFC000"/>
                </a:solidFill>
              </a:defRPr>
            </a:pPr>
            <a:r>
              <a:t>Initiated a recycling program to demonstrate commitment to the environment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Comparative Analysis: Sponsorship vs Other Marketing Activities</a:t>
            </a:r>
          </a:p>
        </p:txBody>
      </p:sp>
      <p:sp>
        <p:nvSpPr>
          <p:cNvPr id="3" name="Content Placeholder 2"/>
          <p:cNvSpPr>
            <a:spLocks noGrp="1"/>
          </p:cNvSpPr>
          <p:nvPr>
            <p:ph idx="1"/>
          </p:nvPr>
        </p:nvSpPr>
        <p:spPr/>
        <p:txBody>
          <a:bodyPr/>
          <a:lstStyle/>
          <a:p/>
          <a:p>
            <a:pPr>
              <a:spcAft>
                <a:spcPts val="600"/>
              </a:spcAft>
              <a:defRPr sz="1800">
                <a:solidFill>
                  <a:srgbClr val="404040"/>
                </a:solidFill>
              </a:defRPr>
            </a:pPr>
            <a:r>
              <a:t>Invested in a comprehensive digital marketing strategy alongside sponsorships</a:t>
            </a:r>
          </a:p>
          <a:p>
            <a:pPr>
              <a:spcAft>
                <a:spcPts val="600"/>
              </a:spcAft>
              <a:defRPr sz="1800">
                <a:solidFill>
                  <a:srgbClr val="404040"/>
                </a:solidFill>
              </a:defRPr>
            </a:pPr>
            <a:r>
              <a:t>Utilized a marketing mix modeling technique to analyze the impact of various marketing strategies</a:t>
            </a:r>
          </a:p>
          <a:p>
            <a:pPr>
              <a:spcAft>
                <a:spcPts val="600"/>
              </a:spcAft>
              <a:defRPr sz="1800">
                <a:solidFill>
                  <a:srgbClr val="FFC000"/>
                </a:solidFill>
              </a:defRPr>
            </a:pPr>
            <a:r>
              <a:t>Increased budget allocation for influencer marketing due to its promising ROI</a:t>
            </a:r>
          </a:p>
          <a:p>
            <a:pPr>
              <a:spcAft>
                <a:spcPts val="600"/>
              </a:spcAft>
              <a:defRPr sz="1800">
                <a:solidFill>
                  <a:srgbClr val="404040"/>
                </a:solidFill>
              </a:defRPr>
            </a:pPr>
            <a:r>
              <a:t>Launched a new in-store marketing campaign parallel to our sponsorship initiatives</a:t>
            </a:r>
          </a:p>
          <a:p>
            <a:pPr>
              <a:spcAft>
                <a:spcPts val="600"/>
              </a:spcAft>
              <a:defRPr sz="1800">
                <a:solidFill>
                  <a:srgbClr val="404040"/>
                </a:solidFill>
              </a:defRPr>
            </a:pPr>
            <a:r>
              <a:t>Conducted regular audits to evaluate the performance of different marketing channels</a:t>
            </a:r>
          </a:p>
          <a:p>
            <a:pPr>
              <a:spcAft>
                <a:spcPts val="600"/>
              </a:spcAft>
              <a:defRPr sz="1800">
                <a:solidFill>
                  <a:srgbClr val="FFC000"/>
                </a:solidFill>
              </a:defRPr>
            </a:pPr>
            <a:r>
              <a:t>Implemented SEO strategies to enhance our online visibility alongside our sponsorship endeavors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pPr>
              <a:defRPr sz="3200" b="1">
                <a:solidFill>
                  <a:srgbClr val="0070C0"/>
                </a:solidFill>
              </a:defRPr>
            </a:pPr>
            <a:r>
              <a:t>Conclusion</a:t>
            </a:r>
          </a:p>
        </p:txBody>
      </p:sp>
      <p:sp>
        <p:nvSpPr>
          <p:cNvPr id="3" name="Content Placeholder 2"/>
          <p:cNvSpPr>
            <a:spLocks noGrp="1"/>
          </p:cNvSpPr>
          <p:nvPr>
            <p:ph idx="1"/>
          </p:nvPr>
        </p:nvSpPr>
        <p:spPr/>
        <p:txBody>
          <a:bodyPr/>
          <a:lstStyle/>
          <a:p/>
          <a:p>
            <a:pPr>
              <a:spcAft>
                <a:spcPts val="800"/>
              </a:spcAft>
              <a:defRPr sz="1800" b="1">
                <a:solidFill>
                  <a:srgbClr val="FFC000"/>
                </a:solidFill>
              </a:defRPr>
            </a:pPr>
            <a:r>
              <a:t>Our 2022 school festival sponsorships received positive response, strengthening our community rapport and brand image. Moving forward, we should continue to leverage such local initiatives to foster customer loyalty and drive growth.</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