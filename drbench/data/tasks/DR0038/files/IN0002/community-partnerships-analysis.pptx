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Community Partnerships: Retail ROI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be examining how community partnerships have impacted regional food retailers' ROI within our revenue bracket. Our focus will be on media coverage value, customer acquisition costs, and brand perception shifts.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Community Partnership Programs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engaged in the sponsorship of three major Asian cultural festivals in 2022, a strategic approach to community engagement.</a:t>
            </a:r>
          </a:p>
          <a:p>
            <a:pPr>
              <a:spcAft>
                <a:spcPts val="400"/>
              </a:spcAft>
              <a:defRPr sz="1600">
                <a:solidFill>
                  <a:srgbClr val="404040"/>
                </a:solidFill>
              </a:defRPr>
            </a:pPr>
            <a:r>
              <a:t>The total investment for these sponsorships was $150,000, indicating our commitment to supporting culturally relevant events.</a:t>
            </a:r>
          </a:p>
          <a:p>
            <a:pPr>
              <a:spcAft>
                <a:spcPts val="400"/>
              </a:spcAft>
              <a:defRPr sz="1600">
                <a:solidFill>
                  <a:srgbClr val="FFD700"/>
                </a:solidFill>
              </a:defRPr>
            </a:pPr>
            <a:r>
              <a:t>The sponsorships resulted in significant media coverage, translating to an impressive 300% return on investment.</a:t>
            </a:r>
          </a:p>
          <a:p>
            <a:pPr>
              <a:spcAft>
                <a:spcPts val="400"/>
              </a:spcAft>
              <a:defRPr sz="1600">
                <a:solidFill>
                  <a:srgbClr val="404040"/>
                </a:solidFill>
              </a:defRPr>
            </a:pPr>
            <a:r>
              <a:t>Beyond financial gains, these sponsorships also led to a surge in new customer acquisition, with a 25% increase observed.</a:t>
            </a:r>
          </a:p>
          <a:p>
            <a:pPr>
              <a:spcAft>
                <a:spcPts val="400"/>
              </a:spcAft>
              <a:defRPr sz="1600">
                <a:solidFill>
                  <a:srgbClr val="404040"/>
                </a:solidFill>
              </a:defRPr>
            </a:pPr>
            <a:r>
              <a:t>It's noteworthy that these new customers were culturally relevant, aligning well with our core business of Asian groceries.</a:t>
            </a:r>
          </a:p>
          <a:p>
            <a:pPr>
              <a:spcAft>
                <a:spcPts val="400"/>
              </a:spcAft>
              <a:defRPr sz="1600">
                <a:solidFill>
                  <a:srgbClr val="FFD700"/>
                </a:solidFill>
              </a:defRPr>
            </a:pPr>
            <a:r>
              <a:t>The success of these sponsorships indicates the potential of community partnerships as a vehicle for brand promotion and customer acquisition.</a:t>
            </a:r>
          </a:p>
          <a:p>
            <a:pPr>
              <a:spcAft>
                <a:spcPts val="400"/>
              </a:spcAft>
              <a:defRPr sz="1600">
                <a:solidFill>
                  <a:srgbClr val="404040"/>
                </a:solidFill>
              </a:defRPr>
            </a:pPr>
            <a:r>
              <a:t>Given the results, it's recommended to continue exploring community partnerships, particularly those that align with our target demographic.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Media Coverage Value and Customer Acquisition Costs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Media coverage varies greatly based on the nature of the community partnership</a:t>
            </a:r>
          </a:p>
          <a:p>
            <a:pPr>
              <a:spcAft>
                <a:spcPts val="600"/>
              </a:spcAft>
              <a:defRPr sz="1800">
                <a:solidFill>
                  <a:srgbClr val="404040"/>
                </a:solidFill>
              </a:defRPr>
            </a:pPr>
            <a:r>
              <a:t>In the past, we've seen a correlation between the size of the initiative and the amount of media coverage</a:t>
            </a:r>
          </a:p>
          <a:p>
            <a:pPr>
              <a:spcAft>
                <a:spcPts val="600"/>
              </a:spcAft>
              <a:defRPr sz="1800">
                <a:solidFill>
                  <a:srgbClr val="FFD700"/>
                </a:solidFill>
              </a:defRPr>
            </a:pPr>
            <a:r>
              <a:t>For large-scale initiatives, we've typically had to hire an external PR firm to manage the media relations</a:t>
            </a:r>
          </a:p>
          <a:p>
            <a:pPr>
              <a:spcAft>
                <a:spcPts val="600"/>
              </a:spcAft>
              <a:defRPr sz="1800">
                <a:solidFill>
                  <a:srgbClr val="404040"/>
                </a:solidFill>
              </a:defRPr>
            </a:pPr>
            <a:r>
              <a:t>The cost to acquire a new customer varies by region and demographic</a:t>
            </a:r>
          </a:p>
          <a:p>
            <a:pPr>
              <a:spcAft>
                <a:spcPts val="600"/>
              </a:spcAft>
              <a:defRPr sz="1800">
                <a:solidFill>
                  <a:srgbClr val="404040"/>
                </a:solidFill>
              </a:defRPr>
            </a:pPr>
            <a:r>
              <a:t>Traditional advertising methods like TV and newspaper ads have higher costs but can reach a larger audience</a:t>
            </a:r>
          </a:p>
          <a:p>
            <a:pPr>
              <a:spcAft>
                <a:spcPts val="600"/>
              </a:spcAft>
              <a:defRPr sz="1800">
                <a:solidFill>
                  <a:srgbClr val="FFD700"/>
                </a:solidFill>
              </a:defRPr>
            </a:pPr>
            <a:r>
              <a:t>Digital marketing channels have lower costs but require more effort to target and reach potential customers</a:t>
            </a:r>
          </a:p>
          <a:p>
            <a:pPr>
              <a:spcAft>
                <a:spcPts val="600"/>
              </a:spcAft>
              <a:defRPr sz="1800">
                <a:solidFill>
                  <a:srgbClr val="404040"/>
                </a:solidFill>
              </a:defRPr>
            </a:pPr>
            <a:r>
              <a:t>We continually monitor and adjust our marketing strategies to reduce acquisition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Brand Perception Following Community Initiatives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It's crucial to maintain a positive brand image in the communities we serve</a:t>
            </a:r>
          </a:p>
          <a:p>
            <a:pPr>
              <a:spcAft>
                <a:spcPts val="600"/>
              </a:spcAft>
              <a:defRPr sz="1800">
                <a:solidFill>
                  <a:srgbClr val="404040"/>
                </a:solidFill>
              </a:defRPr>
            </a:pPr>
            <a:r>
              <a:t>Our community partnerships have historically been well received by our customers</a:t>
            </a:r>
          </a:p>
          <a:p>
            <a:pPr>
              <a:spcAft>
                <a:spcPts val="600"/>
              </a:spcAft>
              <a:defRPr sz="1800">
                <a:solidFill>
                  <a:srgbClr val="FFD700"/>
                </a:solidFill>
              </a:defRPr>
            </a:pPr>
            <a:r>
              <a:t>We conduct regular surveys to gauge customer sentiment following our community initiatives</a:t>
            </a:r>
          </a:p>
          <a:p>
            <a:pPr>
              <a:spcAft>
                <a:spcPts val="600"/>
              </a:spcAft>
              <a:defRPr sz="1800">
                <a:solidFill>
                  <a:srgbClr val="404040"/>
                </a:solidFill>
              </a:defRPr>
            </a:pPr>
            <a:r>
              <a:t>Data from these surveys is used to inform our future initiatives and partnerships</a:t>
            </a:r>
          </a:p>
          <a:p>
            <a:pPr>
              <a:spcAft>
                <a:spcPts val="600"/>
              </a:spcAft>
              <a:defRPr sz="1800">
                <a:solidFill>
                  <a:srgbClr val="404040"/>
                </a:solidFill>
              </a:defRPr>
            </a:pPr>
            <a:r>
              <a:t>We also monitor social media and online reviews to understand the public's perception of our brand</a:t>
            </a:r>
          </a:p>
          <a:p>
            <a:pPr>
              <a:spcAft>
                <a:spcPts val="600"/>
              </a:spcAft>
              <a:defRPr sz="1800">
                <a:solidFill>
                  <a:srgbClr val="FFD700"/>
                </a:solidFill>
              </a:defRPr>
            </a:pPr>
            <a:r>
              <a:t>Negative feedback is taken seriously and used to improve our brand and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analysis indicates that strategic community partnerships can significantly enhance our brand perception and attract new customers cost-effectively. Moving forward, we should explore suitable local initiatives to leverage these benefits.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