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Crisis Management Strategy at Lee's Market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The following presentation provides an overview of our company's approach to crisis communication. This gives us insights on how effectively we manage and communicate during a crisis.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Lee's Market Crisis Protocol</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crisis protocol was established in 2012 as part of the company's commitment to proactive problem management</a:t>
            </a:r>
          </a:p>
          <a:p>
            <a:pPr>
              <a:spcAft>
                <a:spcPts val="600"/>
              </a:spcAft>
              <a:defRPr sz="1800">
                <a:solidFill>
                  <a:srgbClr val="404040"/>
                </a:solidFill>
              </a:defRPr>
            </a:pPr>
            <a:r>
              <a:t>It involves all departments, including retail, distribution, and marketing</a:t>
            </a:r>
          </a:p>
          <a:p>
            <a:pPr>
              <a:spcAft>
                <a:spcPts val="600"/>
              </a:spcAft>
              <a:defRPr sz="1800">
                <a:solidFill>
                  <a:srgbClr val="FF6347"/>
                </a:solidFill>
              </a:defRPr>
            </a:pPr>
            <a:r>
              <a:t>The protocol has been revised 4 times, with the latest revision happening in 2020</a:t>
            </a:r>
          </a:p>
          <a:p>
            <a:pPr>
              <a:spcAft>
                <a:spcPts val="600"/>
              </a:spcAft>
              <a:defRPr sz="1800">
                <a:solidFill>
                  <a:srgbClr val="404040"/>
                </a:solidFill>
              </a:defRPr>
            </a:pPr>
            <a:r>
              <a:t>Training on the crisis protocol is part of the onboarding process for all employees</a:t>
            </a:r>
          </a:p>
          <a:p>
            <a:pPr>
              <a:spcAft>
                <a:spcPts val="600"/>
              </a:spcAft>
              <a:defRPr sz="1800">
                <a:solidFill>
                  <a:srgbClr val="404040"/>
                </a:solidFill>
              </a:defRPr>
            </a:pPr>
            <a:r>
              <a:t>The crisis protocol is audited annually by an independent third-party</a:t>
            </a:r>
          </a:p>
          <a:p>
            <a:pPr>
              <a:spcAft>
                <a:spcPts val="600"/>
              </a:spcAft>
              <a:defRPr sz="1800">
                <a:solidFill>
                  <a:srgbClr val="FF6347"/>
                </a:solidFill>
              </a:defRPr>
            </a:pPr>
            <a:r>
              <a:t>Plans are in place to digitize the entire protocol by Q3 2023</a:t>
            </a:r>
          </a:p>
          <a:p>
            <a:pPr>
              <a:spcAft>
                <a:spcPts val="600"/>
              </a:spcAft>
              <a:defRPr sz="1800">
                <a:solidFill>
                  <a:srgbClr val="404040"/>
                </a:solidFill>
              </a:defRPr>
            </a:pPr>
            <a:r>
              <a:t>The crisis protocol is just one part of our comprehensive risk management strategy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Case Study: Crisis Communication in Action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2017, a product recall situation was resolved without any significant impact on customer trust</a:t>
            </a:r>
          </a:p>
          <a:p>
            <a:pPr>
              <a:spcAft>
                <a:spcPts val="600"/>
              </a:spcAft>
              <a:defRPr sz="1800">
                <a:solidFill>
                  <a:srgbClr val="404040"/>
                </a:solidFill>
              </a:defRPr>
            </a:pPr>
            <a:r>
              <a:t>The incident was managed by the Quality Assurance department with support from Legal and PR</a:t>
            </a:r>
          </a:p>
          <a:p>
            <a:pPr>
              <a:spcAft>
                <a:spcPts val="600"/>
              </a:spcAft>
              <a:defRPr sz="1800">
                <a:solidFill>
                  <a:srgbClr val="FF6347"/>
                </a:solidFill>
              </a:defRPr>
            </a:pPr>
            <a:r>
              <a:t>Our crisis protocol was activated within 3 hours of the incident being identified</a:t>
            </a:r>
          </a:p>
          <a:p>
            <a:pPr>
              <a:spcAft>
                <a:spcPts val="600"/>
              </a:spcAft>
              <a:defRPr sz="1800">
                <a:solidFill>
                  <a:srgbClr val="404040"/>
                </a:solidFill>
              </a:defRPr>
            </a:pPr>
            <a:r>
              <a:t>A post-incident report was prepared and presented to the board within two weeks</a:t>
            </a:r>
          </a:p>
          <a:p>
            <a:pPr>
              <a:spcAft>
                <a:spcPts val="600"/>
              </a:spcAft>
              <a:defRPr sz="1800">
                <a:solidFill>
                  <a:srgbClr val="404040"/>
                </a:solidFill>
              </a:defRPr>
            </a:pPr>
            <a:r>
              <a:t>Feedback from the incident led to a revision of the crisis protocol in 2018</a:t>
            </a:r>
          </a:p>
          <a:p>
            <a:pPr>
              <a:spcAft>
                <a:spcPts val="600"/>
              </a:spcAft>
              <a:defRPr sz="1800">
                <a:solidFill>
                  <a:srgbClr val="FF6347"/>
                </a:solidFill>
              </a:defRPr>
            </a:pPr>
            <a:r>
              <a:t>The 2017 incident is used as a case study in our employee training program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Continuous Improvement in Crisis Management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Customer feedback is collected post-incident and used to improve future response</a:t>
            </a:r>
          </a:p>
          <a:p>
            <a:pPr>
              <a:spcAft>
                <a:spcPts val="400"/>
              </a:spcAft>
              <a:defRPr sz="1600">
                <a:solidFill>
                  <a:srgbClr val="404040"/>
                </a:solidFill>
              </a:defRPr>
            </a:pPr>
            <a:r>
              <a:t>We have a dedicated Crisis Management team that meets quarterly to review the protocol</a:t>
            </a:r>
          </a:p>
          <a:p>
            <a:pPr>
              <a:spcAft>
                <a:spcPts val="400"/>
              </a:spcAft>
              <a:defRPr sz="1600">
                <a:solidFill>
                  <a:srgbClr val="FF6347"/>
                </a:solidFill>
              </a:defRPr>
            </a:pPr>
            <a:r>
              <a:t>The team uses industry best practices and benchmarking data in their review process</a:t>
            </a:r>
          </a:p>
          <a:p>
            <a:pPr>
              <a:spcAft>
                <a:spcPts val="400"/>
              </a:spcAft>
              <a:defRPr sz="1600">
                <a:solidFill>
                  <a:srgbClr val="404040"/>
                </a:solidFill>
              </a:defRPr>
            </a:pPr>
            <a:r>
              <a:t>An external consultant is engaged bi-annually to review the crisis protocol</a:t>
            </a:r>
          </a:p>
          <a:p>
            <a:pPr>
              <a:spcAft>
                <a:spcPts val="400"/>
              </a:spcAft>
              <a:defRPr sz="1600">
                <a:solidFill>
                  <a:srgbClr val="404040"/>
                </a:solidFill>
              </a:defRPr>
            </a:pPr>
            <a:r>
              <a:t>Key performance indicators (KPIs) have been established to measure crisis management effectiveness</a:t>
            </a:r>
          </a:p>
          <a:p>
            <a:pPr>
              <a:spcAft>
                <a:spcPts val="400"/>
              </a:spcAft>
              <a:defRPr sz="1600">
                <a:solidFill>
                  <a:srgbClr val="FF6347"/>
                </a:solidFill>
              </a:defRPr>
            </a:pPr>
            <a:r>
              <a:t>The last review led to a 10% reduction in response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Understanding our crisis communication strategy allows us to be prepared and responsive during challenging times. Moving forward, we will continue to refine our strategies to ensure clear and effective communication in any situation.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