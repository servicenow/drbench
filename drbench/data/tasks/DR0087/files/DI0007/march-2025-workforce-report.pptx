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Workforce Dynamics: March 2025 Report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examine the changes in our workforce during March 2025. We will focus on employment adjustments and their impact on Lee's Market.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Overview of Workforce Changes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Lee's Market expanded its workforce by 15% in 2024</a:t>
            </a:r>
          </a:p>
          <a:p>
            <a:pPr>
              <a:spcAft>
                <a:spcPts val="400"/>
              </a:spcAft>
              <a:defRPr sz="1600">
                <a:solidFill>
                  <a:srgbClr val="404040"/>
                </a:solidFill>
              </a:defRPr>
            </a:pPr>
            <a:r>
              <a:t>20% of hires were for the logistics department to improve supply chain efficiency</a:t>
            </a:r>
          </a:p>
          <a:p>
            <a:pPr>
              <a:spcAft>
                <a:spcPts val="400"/>
              </a:spcAft>
              <a:defRPr sz="1600">
                <a:solidFill>
                  <a:srgbClr val="FFA500"/>
                </a:solidFill>
              </a:defRPr>
            </a:pPr>
            <a:r>
              <a:t>We implemented a new employee training program in Q1 of 2025</a:t>
            </a:r>
          </a:p>
          <a:p>
            <a:pPr>
              <a:spcAft>
                <a:spcPts val="400"/>
              </a:spcAft>
              <a:defRPr sz="1600">
                <a:solidFill>
                  <a:srgbClr val="404040"/>
                </a:solidFill>
              </a:defRPr>
            </a:pPr>
            <a:r>
              <a:t>Average employee tenure at Lee's Market is 5 years</a:t>
            </a:r>
          </a:p>
          <a:p>
            <a:pPr>
              <a:spcAft>
                <a:spcPts val="400"/>
              </a:spcAft>
              <a:defRPr sz="1600">
                <a:solidFill>
                  <a:srgbClr val="404040"/>
                </a:solidFill>
              </a:defRPr>
            </a:pPr>
            <a:r>
              <a:t>Employee turnover rate saw a 2% increase in Q4 of 2024</a:t>
            </a:r>
          </a:p>
          <a:p>
            <a:pPr>
              <a:spcAft>
                <a:spcPts val="400"/>
              </a:spcAft>
              <a:defRPr sz="1600">
                <a:solidFill>
                  <a:srgbClr val="FFA500"/>
                </a:solidFill>
              </a:defRPr>
            </a:pPr>
            <a:r>
              <a:t>We boosted our focus on employee benefits and wellness in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Analysis of Job Losses in March</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Total job losses in the retail industry increased by 3% in Q1 2025</a:t>
            </a:r>
          </a:p>
          <a:p>
            <a:pPr>
              <a:spcAft>
                <a:spcPts val="600"/>
              </a:spcAft>
              <a:defRPr sz="1800">
                <a:solidFill>
                  <a:srgbClr val="404040"/>
                </a:solidFill>
              </a:defRPr>
            </a:pPr>
            <a:r>
              <a:t>Unemployment rates in British Columbia were higher in Q1 2025 compared to the prior year</a:t>
            </a:r>
          </a:p>
          <a:p>
            <a:pPr>
              <a:spcAft>
                <a:spcPts val="600"/>
              </a:spcAft>
              <a:defRPr sz="1800">
                <a:solidFill>
                  <a:srgbClr val="FFA500"/>
                </a:solidFill>
              </a:defRPr>
            </a:pPr>
            <a:r>
              <a:t>The grocery sector was less impacted by job losses compared to other retail sectors</a:t>
            </a:r>
          </a:p>
          <a:p>
            <a:pPr>
              <a:spcAft>
                <a:spcPts val="600"/>
              </a:spcAft>
              <a:defRPr sz="1800">
                <a:solidFill>
                  <a:srgbClr val="404040"/>
                </a:solidFill>
              </a:defRPr>
            </a:pPr>
            <a:r>
              <a:t>Job losses were higher in companies with over 10,000 employees</a:t>
            </a:r>
          </a:p>
          <a:p>
            <a:pPr>
              <a:spcAft>
                <a:spcPts val="600"/>
              </a:spcAft>
              <a:defRPr sz="1800">
                <a:solidFill>
                  <a:srgbClr val="404040"/>
                </a:solidFill>
              </a:defRPr>
            </a:pPr>
            <a:r>
              <a:t>Online retail companies saw a decrease in job losses in March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Impact on Operational Efficiency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investment in automation led to a 10% increase in operational efficiency in 2024</a:t>
            </a:r>
          </a:p>
          <a:p>
            <a:pPr>
              <a:spcAft>
                <a:spcPts val="600"/>
              </a:spcAft>
              <a:defRPr sz="1800">
                <a:solidFill>
                  <a:srgbClr val="404040"/>
                </a:solidFill>
              </a:defRPr>
            </a:pPr>
            <a:r>
              <a:t>The new inventory management system reduced stock discrepancies by 5% in Q1 2025</a:t>
            </a:r>
          </a:p>
          <a:p>
            <a:pPr>
              <a:spcAft>
                <a:spcPts val="600"/>
              </a:spcAft>
              <a:defRPr sz="1800">
                <a:solidFill>
                  <a:srgbClr val="FFA500"/>
                </a:solidFill>
              </a:defRPr>
            </a:pPr>
            <a:r>
              <a:t>We improved our order fulfillment rate by 7% in March 2025</a:t>
            </a:r>
          </a:p>
          <a:p>
            <a:pPr>
              <a:spcAft>
                <a:spcPts val="600"/>
              </a:spcAft>
              <a:defRPr sz="1800">
                <a:solidFill>
                  <a:srgbClr val="404040"/>
                </a:solidFill>
              </a:defRPr>
            </a:pPr>
            <a:r>
              <a:t>Customer satisfaction scores related to product availability increased by 8% in Q1 2025</a:t>
            </a:r>
          </a:p>
          <a:p>
            <a:pPr>
              <a:spcAft>
                <a:spcPts val="600"/>
              </a:spcAft>
              <a:defRPr sz="1800">
                <a:solidFill>
                  <a:srgbClr val="404040"/>
                </a:solidFill>
              </a:defRPr>
            </a:pPr>
            <a:r>
              <a:t>Our new delivery partnership reduced shipping times by 15% in March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The workforce adjustment in March has affected our operations, and it is necessary to strategically plan for future staffing needs. Let's discuss and explore potential strategies to mitigate these impacts moving forward.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