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Direct-to-Customer Sales Transition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consider shifting our sales model from dealership franchising to a direct-to-customer approach, it's crucial to understand the potential benefits and how to leverage them. This presentation will explore strategies for driving sales and higher margins through this transition.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Understanding the Direct-to-Customer Model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our vehicle distribution strategy resulted in an average dealer cost of $38,000 per vehicle.</a:t>
            </a:r>
          </a:p>
          <a:p>
            <a:pPr>
              <a:spcAft>
                <a:spcPts val="400"/>
              </a:spcAft>
              <a:defRPr sz="1600">
                <a:solidFill>
                  <a:srgbClr val="404040"/>
                </a:solidFill>
              </a:defRPr>
            </a:pPr>
            <a:r>
              <a:t>The same vehicles were then sold to customers at an average price point of $44,275.</a:t>
            </a:r>
          </a:p>
          <a:p>
            <a:pPr>
              <a:spcAft>
                <a:spcPts val="400"/>
              </a:spcAft>
              <a:defRPr sz="1600">
                <a:solidFill>
                  <a:srgbClr val="4682B4"/>
                </a:solidFill>
              </a:defRPr>
            </a:pPr>
            <a:r>
              <a:t>The difference of $6,275 per unit represents the margins currently captured by dealers.</a:t>
            </a:r>
          </a:p>
          <a:p>
            <a:pPr>
              <a:spcAft>
                <a:spcPts val="400"/>
              </a:spcAft>
              <a:defRPr sz="1600">
                <a:solidFill>
                  <a:srgbClr val="404040"/>
                </a:solidFill>
              </a:defRPr>
            </a:pPr>
            <a:r>
              <a:t>Shifting to a direct sales model could potentially redirect these margins to Elexion Automotive.</a:t>
            </a:r>
          </a:p>
          <a:p>
            <a:pPr>
              <a:spcAft>
                <a:spcPts val="400"/>
              </a:spcAft>
              <a:defRPr sz="1600">
                <a:solidFill>
                  <a:srgbClr val="404040"/>
                </a:solidFill>
              </a:defRPr>
            </a:pPr>
            <a:r>
              <a:t>The direct-to-customer approach could eliminate unnecessary dealership markup, increasing our margins and reducing costs for the consumer.</a:t>
            </a:r>
          </a:p>
          <a:p>
            <a:pPr>
              <a:spcAft>
                <a:spcPts val="400"/>
              </a:spcAft>
              <a:defRPr sz="1600">
                <a:solidFill>
                  <a:srgbClr val="4682B4"/>
                </a:solidFill>
              </a:defRPr>
            </a:pPr>
            <a:r>
              <a:t>This model could strengthen customer relationships and brand loyalty, driving sales growth.</a:t>
            </a:r>
          </a:p>
          <a:p>
            <a:pPr>
              <a:spcAft>
                <a:spcPts val="400"/>
              </a:spcAft>
              <a:defRPr sz="1600">
                <a:solidFill>
                  <a:srgbClr val="404040"/>
                </a:solidFill>
              </a:defRPr>
            </a:pPr>
            <a:r>
              <a:t>The direct sales model could make Elexion more competitive, given the massive revenues of top dealership groups.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of Sales Model Change on Profit Margins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many industries, a direct-to-customer sales model can lead to an increase in profit margins</a:t>
            </a:r>
          </a:p>
          <a:p>
            <a:pPr>
              <a:spcAft>
                <a:spcPts val="600"/>
              </a:spcAft>
              <a:defRPr sz="1800">
                <a:solidFill>
                  <a:srgbClr val="404040"/>
                </a:solidFill>
              </a:defRPr>
            </a:pPr>
            <a:r>
              <a:t>The model can significantly reduce the cost of intermediaries</a:t>
            </a:r>
          </a:p>
          <a:p>
            <a:pPr>
              <a:spcAft>
                <a:spcPts val="600"/>
              </a:spcAft>
              <a:defRPr sz="1800">
                <a:solidFill>
                  <a:srgbClr val="4682B4"/>
                </a:solidFill>
              </a:defRPr>
            </a:pPr>
            <a:r>
              <a:t>It can also lead to a decrease in the cost of inventory management</a:t>
            </a:r>
          </a:p>
          <a:p>
            <a:pPr>
              <a:spcAft>
                <a:spcPts val="600"/>
              </a:spcAft>
              <a:defRPr sz="1800">
                <a:solidFill>
                  <a:srgbClr val="404040"/>
                </a:solidFill>
              </a:defRPr>
            </a:pPr>
            <a:r>
              <a:t>However, the model may require significant investment in IT infrastructure</a:t>
            </a:r>
          </a:p>
          <a:p>
            <a:pPr>
              <a:spcAft>
                <a:spcPts val="600"/>
              </a:spcAft>
              <a:defRPr sz="1800">
                <a:solidFill>
                  <a:srgbClr val="404040"/>
                </a:solidFill>
              </a:defRPr>
            </a:pPr>
            <a:r>
              <a:t>It may also require the company to take on the cost of logistics and delivery</a:t>
            </a:r>
          </a:p>
          <a:p>
            <a:pPr>
              <a:spcAft>
                <a:spcPts val="600"/>
              </a:spcAft>
              <a:defRPr sz="1800">
                <a:solidFill>
                  <a:srgbClr val="4682B4"/>
                </a:solidFill>
              </a:defRPr>
            </a:pPr>
            <a:r>
              <a:t>The model can lead to improved cash flow due to faster payment cycles</a:t>
            </a:r>
          </a:p>
          <a:p>
            <a:pPr>
              <a:spcAft>
                <a:spcPts val="600"/>
              </a:spcAft>
              <a:defRPr sz="1800">
                <a:solidFill>
                  <a:srgbClr val="404040"/>
                </a:solidFill>
              </a:defRPr>
            </a:pPr>
            <a:r>
              <a:t>Lastly, the model may lead to an increase in customer loyalty due to personalized service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Strategic Approaches for Sales Growth in 2027</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Emphasizing on improving product quality and innovation</a:t>
            </a:r>
          </a:p>
          <a:p>
            <a:pPr>
              <a:spcAft>
                <a:spcPts val="600"/>
              </a:spcAft>
              <a:defRPr sz="1800">
                <a:solidFill>
                  <a:srgbClr val="404040"/>
                </a:solidFill>
              </a:defRPr>
            </a:pPr>
            <a:r>
              <a:t>Investing in research and development to stay ahead of the competition</a:t>
            </a:r>
          </a:p>
          <a:p>
            <a:pPr>
              <a:spcAft>
                <a:spcPts val="600"/>
              </a:spcAft>
              <a:defRPr sz="1800">
                <a:solidFill>
                  <a:srgbClr val="4682B4"/>
                </a:solidFill>
              </a:defRPr>
            </a:pPr>
            <a:r>
              <a:t>Expanding into new markets to increase customer base</a:t>
            </a:r>
          </a:p>
          <a:p>
            <a:pPr>
              <a:spcAft>
                <a:spcPts val="600"/>
              </a:spcAft>
              <a:defRPr sz="1800">
                <a:solidFill>
                  <a:srgbClr val="404040"/>
                </a:solidFill>
              </a:defRPr>
            </a:pPr>
            <a:r>
              <a:t>Strengthening customer relationships through improved after-sales services</a:t>
            </a:r>
          </a:p>
          <a:p>
            <a:pPr>
              <a:spcAft>
                <a:spcPts val="600"/>
              </a:spcAft>
              <a:defRPr sz="1800">
                <a:solidFill>
                  <a:srgbClr val="404040"/>
                </a:solidFill>
              </a:defRPr>
            </a:pPr>
            <a:r>
              <a:t>Focusing on digital marketing to increase brand visibility</a:t>
            </a:r>
          </a:p>
          <a:p>
            <a:pPr>
              <a:spcAft>
                <a:spcPts val="600"/>
              </a:spcAft>
              <a:defRPr sz="1800">
                <a:solidFill>
                  <a:srgbClr val="4682B4"/>
                </a:solidFill>
              </a:defRPr>
            </a:pPr>
            <a:r>
              <a:t>Collaborating with influencers and celebrities for promotional activities</a:t>
            </a:r>
          </a:p>
          <a:p>
            <a:pPr>
              <a:spcAft>
                <a:spcPts val="600"/>
              </a:spcAft>
              <a:defRPr sz="1800">
                <a:solidFill>
                  <a:srgbClr val="404040"/>
                </a:solidFill>
              </a:defRPr>
            </a:pPr>
            <a:r>
              <a:t>Implementing customer loyalty programs to increase repeat purchases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Transitioning to a direct-to-customer sales model presents opportunities for increased sales and profit margins. To capitalize on this, we need to carefully strategize our approach, prioritizing customer experience, and leveraging technology for effective sales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