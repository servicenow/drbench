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Warehouse Operations: Post-Training Outcomes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provides an overview of changes recorded in warehouse operations at Lee's Market after the 2024 employee training. It aims to assess the efficacy of our training programs in improving operational efficiency.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2024 Employee Training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training was conducted in November 2024 in all regional centers</a:t>
            </a:r>
          </a:p>
          <a:p>
            <a:pPr>
              <a:spcAft>
                <a:spcPts val="400"/>
              </a:spcAft>
              <a:defRPr sz="1600">
                <a:solidFill>
                  <a:srgbClr val="404040"/>
                </a:solidFill>
              </a:defRPr>
            </a:pPr>
            <a:r>
              <a:t>The focus was on customer service, product knowledge, and store operations</a:t>
            </a:r>
          </a:p>
          <a:p>
            <a:pPr>
              <a:spcAft>
                <a:spcPts val="400"/>
              </a:spcAft>
              <a:defRPr sz="1600">
                <a:solidFill>
                  <a:srgbClr val="FFD700"/>
                </a:solidFill>
              </a:defRPr>
            </a:pPr>
            <a:r>
              <a:t>The training was delivered in a blended format - online and in-person</a:t>
            </a:r>
          </a:p>
          <a:p>
            <a:pPr>
              <a:spcAft>
                <a:spcPts val="400"/>
              </a:spcAft>
              <a:defRPr sz="1600">
                <a:solidFill>
                  <a:srgbClr val="404040"/>
                </a:solidFill>
              </a:defRPr>
            </a:pPr>
            <a:r>
              <a:t>The training was developed in-house by Lee's Market's HR and Training departments</a:t>
            </a:r>
          </a:p>
          <a:p>
            <a:pPr>
              <a:spcAft>
                <a:spcPts val="400"/>
              </a:spcAft>
              <a:defRPr sz="1600">
                <a:solidFill>
                  <a:srgbClr val="404040"/>
                </a:solidFill>
              </a:defRPr>
            </a:pPr>
            <a:r>
              <a:t>Employees from all departments, including sales, cashiering, and merchandise stocking, participated in the training</a:t>
            </a:r>
          </a:p>
          <a:p>
            <a:pPr>
              <a:spcAft>
                <a:spcPts val="400"/>
              </a:spcAft>
              <a:defRPr sz="1600">
                <a:solidFill>
                  <a:srgbClr val="FFD700"/>
                </a:solidFill>
              </a:defRPr>
            </a:pPr>
            <a:r>
              <a:t>The training was part of Lee's Market's commitment to continuous employee development</a:t>
            </a:r>
          </a:p>
          <a:p>
            <a:pPr>
              <a:spcAft>
                <a:spcPts val="400"/>
              </a:spcAft>
              <a:defRPr sz="1600">
                <a:solidFill>
                  <a:srgbClr val="404040"/>
                </a:solidFill>
              </a:defRPr>
            </a:pPr>
            <a:r>
              <a:t>Feedback from the employees indicated a high level of satisfaction with the training content and delivery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Key Indicators of Warehouse Performance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Monthly inventory turnover rates</a:t>
            </a:r>
          </a:p>
          <a:p>
            <a:pPr>
              <a:spcAft>
                <a:spcPts val="600"/>
              </a:spcAft>
              <a:defRPr sz="1800">
                <a:solidFill>
                  <a:srgbClr val="404040"/>
                </a:solidFill>
              </a:defRPr>
            </a:pPr>
            <a:r>
              <a:t>Order accuracy rates, tracking errors in picking and packing</a:t>
            </a:r>
          </a:p>
          <a:p>
            <a:pPr>
              <a:spcAft>
                <a:spcPts val="600"/>
              </a:spcAft>
              <a:defRPr sz="1800">
                <a:solidFill>
                  <a:srgbClr val="FFD700"/>
                </a:solidFill>
              </a:defRPr>
            </a:pPr>
            <a:r>
              <a:t>Total warehouse labor costs as a percentage of sales</a:t>
            </a:r>
          </a:p>
          <a:p>
            <a:pPr>
              <a:spcAft>
                <a:spcPts val="600"/>
              </a:spcAft>
              <a:defRPr sz="1800">
                <a:solidFill>
                  <a:srgbClr val="404040"/>
                </a:solidFill>
              </a:defRPr>
            </a:pPr>
            <a:r>
              <a:t>Average warehouse capacity utilization</a:t>
            </a:r>
          </a:p>
          <a:p>
            <a:pPr>
              <a:spcAft>
                <a:spcPts val="600"/>
              </a:spcAft>
              <a:defRPr sz="1800">
                <a:solidFill>
                  <a:srgbClr val="404040"/>
                </a:solidFill>
              </a:defRPr>
            </a:pPr>
            <a:r>
              <a:t>Average time to process a return</a:t>
            </a:r>
          </a:p>
          <a:p>
            <a:pPr>
              <a:spcAft>
                <a:spcPts val="600"/>
              </a:spcAft>
              <a:defRPr sz="1800">
                <a:solidFill>
                  <a:srgbClr val="FFD700"/>
                </a:solidFill>
              </a:defRPr>
            </a:pPr>
            <a:r>
              <a:t>Rate of out-of-stock items per month</a:t>
            </a:r>
          </a:p>
          <a:p>
            <a:pPr>
              <a:spcAft>
                <a:spcPts val="600"/>
              </a:spcAft>
              <a:defRPr sz="1800">
                <a:solidFill>
                  <a:srgbClr val="404040"/>
                </a:solidFill>
              </a:defRPr>
            </a:pPr>
            <a:r>
              <a:t>Percentage of warehouse space dedicated to different product categories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Post-Training Operational Improvements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Customer service ratings have improved by 4% in the first quarter of 2025</a:t>
            </a:r>
          </a:p>
          <a:p>
            <a:pPr>
              <a:spcAft>
                <a:spcPts val="600"/>
              </a:spcAft>
              <a:defRPr sz="1800">
                <a:solidFill>
                  <a:srgbClr val="404040"/>
                </a:solidFill>
              </a:defRPr>
            </a:pPr>
            <a:r>
              <a:t>There has been a 6% increase in online sales since the beginning of 2025</a:t>
            </a:r>
          </a:p>
          <a:p>
            <a:pPr>
              <a:spcAft>
                <a:spcPts val="600"/>
              </a:spcAft>
              <a:defRPr sz="1800">
                <a:solidFill>
                  <a:srgbClr val="FFD700"/>
                </a:solidFill>
              </a:defRPr>
            </a:pPr>
            <a:r>
              <a:t>Store cleanliness ratings have improved by 5% since the training</a:t>
            </a:r>
          </a:p>
          <a:p>
            <a:pPr>
              <a:spcAft>
                <a:spcPts val="600"/>
              </a:spcAft>
              <a:defRPr sz="1800">
                <a:solidFill>
                  <a:srgbClr val="404040"/>
                </a:solidFill>
              </a:defRPr>
            </a:pPr>
            <a:r>
              <a:t>Average checkout times have reduced by 2 minutes since December 2024</a:t>
            </a:r>
          </a:p>
          <a:p>
            <a:pPr>
              <a:spcAft>
                <a:spcPts val="600"/>
              </a:spcAft>
              <a:defRPr sz="1800">
                <a:solidFill>
                  <a:srgbClr val="404040"/>
                </a:solidFill>
              </a:defRPr>
            </a:pPr>
            <a:r>
              <a:t>There has been a 3% reduction in product returns in the first quarter of 2025</a:t>
            </a:r>
          </a:p>
          <a:p>
            <a:pPr>
              <a:spcAft>
                <a:spcPts val="600"/>
              </a:spcAft>
              <a:defRPr sz="1800">
                <a:solidFill>
                  <a:srgbClr val="FFD700"/>
                </a:solidFill>
              </a:defRPr>
            </a:pPr>
            <a:r>
              <a:t>Employee turnover has reduced by 10% in the first quarter of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Our recent training session has made considerable improvements in warehouse operations, reflecting the value of continuous employee development. Moving forward, we must focus on areas that still need improvement and continue to invest in our training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