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DC143C"/>
                </a:solidFill>
              </a:defRPr>
            </a:pPr>
            <a:r>
              <a:t>EV Market Trends: Competitor Analysis &amp; Strategy</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In this presentation, we will explore the key trends shaping the North American electric vehicle (EV) sector, and how competitor strategies and market positioning are influencing the landscape. This analysis will guide our strategic planning and decision-making processes as we continue to innovate within this dynamic market.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North American EV Market Overview</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With China's increased dominance in EV production, global competition has intensified, leading to strategic shifts amongst automakers.</a:t>
            </a:r>
          </a:p>
          <a:p>
            <a:pPr>
              <a:spcAft>
                <a:spcPts val="600"/>
              </a:spcAft>
              <a:defRPr sz="1800">
                <a:solidFill>
                  <a:srgbClr val="404040"/>
                </a:solidFill>
              </a:defRPr>
            </a:pPr>
            <a:r>
              <a:t>Tesla, along with other significant automakers, has responded by reducing EV prices, impacting the North American market positioning.</a:t>
            </a:r>
          </a:p>
          <a:p>
            <a:pPr>
              <a:spcAft>
                <a:spcPts val="600"/>
              </a:spcAft>
              <a:defRPr sz="1800">
                <a:solidFill>
                  <a:srgbClr val="FFD700"/>
                </a:solidFill>
              </a:defRPr>
            </a:pPr>
            <a:r>
              <a:t>The Tesla Model Y, for instance, saw a price reduction of approximately USD 15,000 between mid-2022 and early 2024.</a:t>
            </a:r>
          </a:p>
          <a:p>
            <a:pPr>
              <a:spcAft>
                <a:spcPts val="600"/>
              </a:spcAft>
              <a:defRPr sz="1800">
                <a:solidFill>
                  <a:srgbClr val="404040"/>
                </a:solidFill>
              </a:defRPr>
            </a:pPr>
            <a:r>
              <a:t>Elexion Automotive has observed these market shifts closely, with our internal CRM tracking key competitor model announcements and their corresponding impact.</a:t>
            </a:r>
          </a:p>
          <a:p>
            <a:pPr>
              <a:spcAft>
                <a:spcPts val="600"/>
              </a:spcAft>
              <a:defRPr sz="1800">
                <a:solidFill>
                  <a:srgbClr val="404040"/>
                </a:solidFill>
              </a:defRPr>
            </a:pPr>
            <a:r>
              <a:t>In Q2 2024, our CRM data indicated a 12% decrease in EV inquiry volume post competitor model announcements.</a:t>
            </a:r>
          </a:p>
          <a:p>
            <a:pPr>
              <a:spcAft>
                <a:spcPts val="600"/>
              </a:spcAft>
              <a:defRPr sz="1800">
                <a:solidFill>
                  <a:srgbClr val="FFD700"/>
                </a:solidFill>
              </a:defRPr>
            </a:pPr>
            <a:r>
              <a:t>This drop in EV inquiry volume could potentially indicate shifts in market share.</a:t>
            </a:r>
          </a:p>
          <a:p>
            <a:pPr>
              <a:spcAft>
                <a:spcPts val="600"/>
              </a:spcAft>
              <a:defRPr sz="1800">
                <a:solidFill>
                  <a:srgbClr val="404040"/>
                </a:solidFill>
              </a:defRPr>
            </a:pPr>
            <a:r>
              <a:t>Such shifts necessitate a thorough re-examination of our competitive intelligence strategies to ensure we remain at the forefront of the evolving EV landscape.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Analysis of Key Competitor Strategies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Tesla's supercharger network spanned 25,000 stations globally as of 2023</a:t>
            </a:r>
          </a:p>
          <a:p>
            <a:pPr>
              <a:spcAft>
                <a:spcPts val="600"/>
              </a:spcAft>
              <a:defRPr sz="1800">
                <a:solidFill>
                  <a:srgbClr val="404040"/>
                </a:solidFill>
              </a:defRPr>
            </a:pPr>
            <a:r>
              <a:t>General Motors announced in 2024 a goal to become carbon neutral by 2040</a:t>
            </a:r>
          </a:p>
          <a:p>
            <a:pPr>
              <a:spcAft>
                <a:spcPts val="600"/>
              </a:spcAft>
              <a:defRPr sz="1800">
                <a:solidFill>
                  <a:srgbClr val="FFD700"/>
                </a:solidFill>
              </a:defRPr>
            </a:pPr>
            <a:r>
              <a:t>Nissan’s most popular EV model, the Leaf, sold over 500,000 units globally by 2023</a:t>
            </a:r>
          </a:p>
          <a:p>
            <a:pPr>
              <a:spcAft>
                <a:spcPts val="600"/>
              </a:spcAft>
              <a:defRPr sz="1800">
                <a:solidFill>
                  <a:srgbClr val="404040"/>
                </a:solidFill>
              </a:defRPr>
            </a:pPr>
            <a:r>
              <a:t>Ford launched an all-electric version of the F-150, America's best-selling truck, in 2022</a:t>
            </a:r>
          </a:p>
          <a:p>
            <a:pPr>
              <a:spcAft>
                <a:spcPts val="600"/>
              </a:spcAft>
              <a:defRPr sz="1800">
                <a:solidFill>
                  <a:srgbClr val="404040"/>
                </a:solidFill>
              </a:defRPr>
            </a:pPr>
            <a:r>
              <a:t>BMW plans to have 25 electric models on the market by 2023</a:t>
            </a:r>
          </a:p>
          <a:p>
            <a:pPr>
              <a:spcAft>
                <a:spcPts val="600"/>
              </a:spcAft>
              <a:defRPr sz="1800">
                <a:solidFill>
                  <a:srgbClr val="FFD700"/>
                </a:solidFill>
              </a:defRPr>
            </a:pPr>
            <a:r>
              <a:t>Rivian partnered with Amazon in 2021 to produce 100,000 electric delivery vans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Impact on Elexion's Market Positioning</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Elexion's first EV model, the E1, was launched in 2022</a:t>
            </a:r>
          </a:p>
          <a:p>
            <a:pPr>
              <a:spcAft>
                <a:spcPts val="400"/>
              </a:spcAft>
              <a:defRPr sz="1600">
                <a:solidFill>
                  <a:srgbClr val="404040"/>
                </a:solidFill>
              </a:defRPr>
            </a:pPr>
            <a:r>
              <a:t>Elexion achieved a 15% market share in the premium EV segment in North America by 2023</a:t>
            </a:r>
          </a:p>
          <a:p>
            <a:pPr>
              <a:spcAft>
                <a:spcPts val="400"/>
              </a:spcAft>
              <a:defRPr sz="1600">
                <a:solidFill>
                  <a:srgbClr val="FFD700"/>
                </a:solidFill>
              </a:defRPr>
            </a:pPr>
            <a:r>
              <a:t>Elexion’s EVs have an average range of 300 miles, higher than the industry average in 2023</a:t>
            </a:r>
          </a:p>
          <a:p>
            <a:pPr>
              <a:spcAft>
                <a:spcPts val="400"/>
              </a:spcAft>
              <a:defRPr sz="1600">
                <a:solidFill>
                  <a:srgbClr val="404040"/>
                </a:solidFill>
              </a:defRPr>
            </a:pPr>
            <a:r>
              <a:t>The company aims to sell 50,000 units of its new mid-range model by 2025</a:t>
            </a:r>
          </a:p>
          <a:p>
            <a:pPr>
              <a:spcAft>
                <a:spcPts val="400"/>
              </a:spcAft>
              <a:defRPr sz="1600">
                <a:solidFill>
                  <a:srgbClr val="404040"/>
                </a:solidFill>
              </a:defRPr>
            </a:pPr>
            <a:r>
              <a:t>Elexion plans to expand its production facilities in the US by 20% by 2024</a:t>
            </a:r>
          </a:p>
          <a:p>
            <a:pPr>
              <a:spcAft>
                <a:spcPts val="400"/>
              </a:spcAft>
              <a:defRPr sz="1600">
                <a:solidFill>
                  <a:srgbClr val="FFD700"/>
                </a:solidFill>
              </a:defRPr>
            </a:pPr>
            <a:r>
              <a:t>Elexion's customer satisfaction rate was 85% in 2023, an increase from 80% in 2022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D700"/>
                </a:solidFill>
              </a:defRPr>
            </a:pPr>
            <a:r>
              <a:t>Understanding the competitive landscape and emerging trends is crucial for Elexion to maintain its market position and achieve sustainable growth. Let's leverage these insights to refine our strategies and ensure we stay ahead of the curve in the North American EV market.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