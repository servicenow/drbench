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Compliance Framework Update for ZEV Mandate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continue to expand our operations, we must align our compliance documentation with the revised Zero Emission Vehicle (ZEV) mandate in Canada. This presentation outlines our proposed strategy to verify and record supply-chain investment credits by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Understanding Canada's Revised ZEV Mandate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As of Q1 2026, Elexion Automotive has successfully automated 72% of its supply-chain compliance data capture.</a:t>
            </a:r>
          </a:p>
          <a:p>
            <a:pPr>
              <a:spcAft>
                <a:spcPts val="600"/>
              </a:spcAft>
              <a:defRPr sz="1800">
                <a:solidFill>
                  <a:srgbClr val="404040"/>
                </a:solidFill>
              </a:defRPr>
            </a:pPr>
            <a:r>
              <a:t>The current framework leverages digital traceability systems such as ERP and supplier portals for documentation.</a:t>
            </a:r>
          </a:p>
          <a:p>
            <a:pPr>
              <a:spcAft>
                <a:spcPts val="600"/>
              </a:spcAft>
              <a:defRPr sz="1800">
                <a:solidFill>
                  <a:srgbClr val="FF8243"/>
                </a:solidFill>
              </a:defRPr>
            </a:pPr>
            <a:r>
              <a:t>The high level of automation reduces the necessity for manual documentation, saving time and resources.</a:t>
            </a:r>
          </a:p>
          <a:p>
            <a:pPr>
              <a:spcAft>
                <a:spcPts val="600"/>
              </a:spcAft>
              <a:defRPr sz="1800">
                <a:solidFill>
                  <a:srgbClr val="404040"/>
                </a:solidFill>
              </a:defRPr>
            </a:pPr>
            <a:r>
              <a:t>However, there's still 28% of the process that remains manual, indicating room for further integration.</a:t>
            </a:r>
          </a:p>
          <a:p>
            <a:pPr>
              <a:spcAft>
                <a:spcPts val="600"/>
              </a:spcAft>
              <a:defRPr sz="1800">
                <a:solidFill>
                  <a:srgbClr val="404040"/>
                </a:solidFill>
              </a:defRPr>
            </a:pPr>
            <a:r>
              <a:t>The remaining integration effort will involve a combination of APIs and supplier onboarding to achieve audit-grade unified reporting.</a:t>
            </a:r>
          </a:p>
          <a:p>
            <a:pPr>
              <a:spcAft>
                <a:spcPts val="600"/>
              </a:spcAft>
              <a:defRPr sz="1800">
                <a:solidFill>
                  <a:srgbClr val="FF8243"/>
                </a:solidFill>
              </a:defRPr>
            </a:pPr>
            <a:r>
              <a:t>The automation share is a key determinant of the effort needed to update the compliance documentation framework for the revised ZEV mandate.</a:t>
            </a:r>
          </a:p>
          <a:p>
            <a:pPr>
              <a:spcAft>
                <a:spcPts val="600"/>
              </a:spcAft>
              <a:defRPr sz="1800">
                <a:solidFill>
                  <a:srgbClr val="404040"/>
                </a:solidFill>
              </a:defRPr>
            </a:pPr>
            <a:r>
              <a:t>An efficient automation strategy will facilitate verification and recording of supply-chain investment credits under Canada's new regulations.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Implications on Elexion Automotive's Supply Chain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Outline of Elexion's current global supply chain structure</a:t>
            </a:r>
          </a:p>
          <a:p>
            <a:pPr>
              <a:spcAft>
                <a:spcPts val="400"/>
              </a:spcAft>
              <a:defRPr sz="1600">
                <a:solidFill>
                  <a:srgbClr val="404040"/>
                </a:solidFill>
              </a:defRPr>
            </a:pPr>
            <a:r>
              <a:t>Description of Elexion's vehicle production process</a:t>
            </a:r>
          </a:p>
          <a:p>
            <a:pPr>
              <a:spcAft>
                <a:spcPts val="400"/>
              </a:spcAft>
              <a:defRPr sz="1600">
                <a:solidFill>
                  <a:srgbClr val="FF8243"/>
                </a:solidFill>
              </a:defRPr>
            </a:pPr>
            <a:r>
              <a:t>Analysis of Elexion's supply chain efficiency metrics</a:t>
            </a:r>
          </a:p>
          <a:p>
            <a:pPr>
              <a:spcAft>
                <a:spcPts val="400"/>
              </a:spcAft>
              <a:defRPr sz="1600">
                <a:solidFill>
                  <a:srgbClr val="404040"/>
                </a:solidFill>
              </a:defRPr>
            </a:pPr>
            <a:r>
              <a:t>Overview of Elexion's supplier relationship management strategies</a:t>
            </a:r>
          </a:p>
          <a:p>
            <a:pPr>
              <a:spcAft>
                <a:spcPts val="400"/>
              </a:spcAft>
              <a:defRPr sz="1600">
                <a:solidFill>
                  <a:srgbClr val="404040"/>
                </a:solidFill>
              </a:defRPr>
            </a:pPr>
            <a:r>
              <a:t>Discussion on potential effects of trade tariffs on Elexion's supply chain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Proposed Compliance Documentation Framework</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Overview of Elexion's current compliance documentation process</a:t>
            </a:r>
          </a:p>
          <a:p>
            <a:pPr>
              <a:spcAft>
                <a:spcPts val="600"/>
              </a:spcAft>
              <a:defRPr sz="1800">
                <a:solidFill>
                  <a:srgbClr val="404040"/>
                </a:solidFill>
              </a:defRPr>
            </a:pPr>
            <a:r>
              <a:t>Examination of best practices for compliance documentation in the auto industry</a:t>
            </a:r>
          </a:p>
          <a:p>
            <a:pPr>
              <a:spcAft>
                <a:spcPts val="600"/>
              </a:spcAft>
              <a:defRPr sz="1800">
                <a:solidFill>
                  <a:srgbClr val="FF8243"/>
                </a:solidFill>
              </a:defRPr>
            </a:pPr>
            <a:r>
              <a:t>Description of Elexion's internal audit process for compliance</a:t>
            </a:r>
          </a:p>
          <a:p>
            <a:pPr>
              <a:spcAft>
                <a:spcPts val="600"/>
              </a:spcAft>
              <a:defRPr sz="1800">
                <a:solidFill>
                  <a:srgbClr val="404040"/>
                </a:solidFill>
              </a:defRPr>
            </a:pPr>
            <a:r>
              <a:t>Breakdown of resources allocated to Elexion's compliance department</a:t>
            </a:r>
          </a:p>
          <a:p>
            <a:pPr>
              <a:spcAft>
                <a:spcPts val="600"/>
              </a:spcAft>
              <a:defRPr sz="1800">
                <a:solidFill>
                  <a:srgbClr val="404040"/>
                </a:solidFill>
              </a:defRPr>
            </a:pPr>
            <a:r>
              <a:t>Analysis of recent compliance issues Elexion has faced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Implementing these changes will ensure Elexion Automotive remains compliant with the updated ZEV mandate in Canada. Moving forward, we must consistently review and update our documentation framework to reflect any further regulatory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