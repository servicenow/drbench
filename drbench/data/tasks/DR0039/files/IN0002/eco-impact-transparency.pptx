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Eco-Impact Transparency in Grocery Delivery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part of our ongoing commitment to sustainability, we are closely monitoring carbon footprint transparency in our industry. This presentation will analyze the communication methods and impacts on customer perception among online grocery retailers in North America.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Carbon Footprint Metrics Among Competitors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2024 sustainability report showed a clear regional difference in customer perception of our green initiatives.</a:t>
            </a:r>
          </a:p>
          <a:p>
            <a:pPr>
              <a:spcAft>
                <a:spcPts val="600"/>
              </a:spcAft>
              <a:defRPr sz="1800">
                <a:solidFill>
                  <a:srgbClr val="404040"/>
                </a:solidFill>
              </a:defRPr>
            </a:pPr>
            <a:r>
              <a:t>In the Canadian markets, our transparency on carbon footprint had a positive impact on 89% of our customers.</a:t>
            </a:r>
          </a:p>
          <a:p>
            <a:pPr>
              <a:spcAft>
                <a:spcPts val="600"/>
              </a:spcAft>
              <a:defRPr sz="1800">
                <a:solidFill>
                  <a:srgbClr val="FFC000"/>
                </a:solidFill>
              </a:defRPr>
            </a:pPr>
            <a:r>
              <a:t>This contrasts with our U.S. markets, where the positive impact was reported by 71% of customers.</a:t>
            </a:r>
          </a:p>
          <a:p>
            <a:pPr>
              <a:spcAft>
                <a:spcPts val="600"/>
              </a:spcAft>
              <a:defRPr sz="1800">
                <a:solidFill>
                  <a:srgbClr val="404040"/>
                </a:solidFill>
              </a:defRPr>
            </a:pPr>
            <a:r>
              <a:t>This demonstrates the importance of environmental transparency in maintaining customer trust and loyalty.</a:t>
            </a:r>
          </a:p>
          <a:p>
            <a:pPr>
              <a:spcAft>
                <a:spcPts val="600"/>
              </a:spcAft>
              <a:defRPr sz="1800">
                <a:solidFill>
                  <a:srgbClr val="404040"/>
                </a:solidFill>
              </a:defRPr>
            </a:pPr>
            <a:r>
              <a:t>The regional difference in perception suggests a need for region-specific communication and engagement strategies.</a:t>
            </a:r>
          </a:p>
          <a:p>
            <a:pPr>
              <a:spcAft>
                <a:spcPts val="600"/>
              </a:spcAft>
              <a:defRPr sz="1800">
                <a:solidFill>
                  <a:srgbClr val="FFC000"/>
                </a:solidFill>
              </a:defRPr>
            </a:pPr>
            <a:r>
              <a:t>It's important to note that our competitors, like Walmart, have also embarked on significant sustainability efforts such as the 'Gigaton Project'.</a:t>
            </a:r>
          </a:p>
          <a:p>
            <a:pPr>
              <a:spcAft>
                <a:spcPts val="600"/>
              </a:spcAft>
              <a:defRPr sz="1800">
                <a:solidFill>
                  <a:srgbClr val="404040"/>
                </a:solidFill>
              </a:defRPr>
            </a:pPr>
            <a:r>
              <a:t>To stay competitive, we need to continually evaluate and communicate our carbon footprint metrics openly.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Sustainability Communication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Walmart uses in-store signage to educate customers about its Gigaton Project</a:t>
            </a:r>
          </a:p>
          <a:p>
            <a:pPr>
              <a:spcAft>
                <a:spcPts val="600"/>
              </a:spcAft>
              <a:defRPr sz="1800">
                <a:solidFill>
                  <a:srgbClr val="404040"/>
                </a:solidFill>
              </a:defRPr>
            </a:pPr>
            <a:r>
              <a:t>Amazon's Prime Day 2024 focused on promoting eco-friendly products</a:t>
            </a:r>
          </a:p>
          <a:p>
            <a:pPr>
              <a:spcAft>
                <a:spcPts val="600"/>
              </a:spcAft>
              <a:defRPr sz="1800">
                <a:solidFill>
                  <a:srgbClr val="FFC000"/>
                </a:solidFill>
              </a:defRPr>
            </a:pPr>
            <a:r>
              <a:t>Kroger utilizes social media platforms to champion its Zero Hunger Zero Waste initiative</a:t>
            </a:r>
          </a:p>
          <a:p>
            <a:pPr>
              <a:spcAft>
                <a:spcPts val="600"/>
              </a:spcAft>
              <a:defRPr sz="1800">
                <a:solidFill>
                  <a:srgbClr val="404040"/>
                </a:solidFill>
              </a:defRPr>
            </a:pPr>
            <a:r>
              <a:t>Aldi has introduced an annual sustainability report detailing its progress</a:t>
            </a:r>
          </a:p>
          <a:p>
            <a:pPr>
              <a:spcAft>
                <a:spcPts val="600"/>
              </a:spcAft>
              <a:defRPr sz="1800">
                <a:solidFill>
                  <a:srgbClr val="404040"/>
                </a:solidFill>
              </a:defRPr>
            </a:pPr>
            <a:r>
              <a:t>Costco leverages its membership magazine to communicate its green initiatives</a:t>
            </a:r>
          </a:p>
          <a:p>
            <a:pPr>
              <a:spcAft>
                <a:spcPts val="600"/>
              </a:spcAft>
              <a:defRPr sz="1800">
                <a:solidFill>
                  <a:srgbClr val="FFC000"/>
                </a:solidFill>
              </a:defRPr>
            </a:pPr>
            <a:r>
              <a:t>Target's 'Good &amp; Gather' brand emphasizes sustainability in its packaging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Customer Perception in Response to Eco-Transparency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Walmart's Gigaton Project has been generally well received, with a 5% increase in customer satisfaction scores</a:t>
            </a:r>
          </a:p>
          <a:p>
            <a:pPr>
              <a:spcAft>
                <a:spcPts val="400"/>
              </a:spcAft>
              <a:defRPr sz="1600">
                <a:solidFill>
                  <a:srgbClr val="404040"/>
                </a:solidFill>
              </a:defRPr>
            </a:pPr>
            <a:r>
              <a:t>Amazon's focus on sustainability has been met with mixed reviews due to concerns about packaging waste</a:t>
            </a:r>
          </a:p>
          <a:p>
            <a:pPr>
              <a:spcAft>
                <a:spcPts val="400"/>
              </a:spcAft>
              <a:defRPr sz="1600">
                <a:solidFill>
                  <a:srgbClr val="FFC000"/>
                </a:solidFill>
              </a:defRPr>
            </a:pPr>
            <a:r>
              <a:t>Costco's energy reduction goal has led to an increase in their reputation as a responsible retailer</a:t>
            </a:r>
          </a:p>
          <a:p>
            <a:pPr>
              <a:spcAft>
                <a:spcPts val="400"/>
              </a:spcAft>
              <a:defRPr sz="1600">
                <a:solidFill>
                  <a:srgbClr val="404040"/>
                </a:solidFill>
              </a:defRPr>
            </a:pPr>
            <a:r>
              <a:t>Kroger's Zero Hunger Zero Waste initiative has led to a 10% increase in customer loyalty</a:t>
            </a:r>
          </a:p>
          <a:p>
            <a:pPr>
              <a:spcAft>
                <a:spcPts val="400"/>
              </a:spcAft>
              <a:defRPr sz="1600">
                <a:solidFill>
                  <a:srgbClr val="404040"/>
                </a:solidFill>
              </a:defRPr>
            </a:pPr>
            <a:r>
              <a:t>Aldi's sustainable sourcing commitment has resulted in higher overall product ratings</a:t>
            </a:r>
          </a:p>
          <a:p>
            <a:pPr>
              <a:spcAft>
                <a:spcPts val="400"/>
              </a:spcAft>
              <a:defRPr sz="1600">
                <a:solidFill>
                  <a:srgbClr val="FFC000"/>
                </a:solidFill>
              </a:defRPr>
            </a:pPr>
            <a:r>
              <a:t>Instacart's local sourcing partnerships have been positively received, particularly among millennial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It is clear that openness about environmental impacts can positively influence customer perception. As a next step, we should consider how Lee's Market can enhance transparency around our own delivery operations' carbon footprint.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