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Annual Wage Analysis: Grocery Associates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discuss the wage structure for our grocery associates. Specifically, we will focus on the average annual wage in the year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Labor Costs and Revenue: A Comparative Analysis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2024, Lee's Market labor costs constituted 15% of total revenue</a:t>
            </a:r>
          </a:p>
          <a:p>
            <a:pPr>
              <a:spcAft>
                <a:spcPts val="400"/>
              </a:spcAft>
              <a:defRPr sz="1600">
                <a:solidFill>
                  <a:srgbClr val="404040"/>
                </a:solidFill>
              </a:defRPr>
            </a:pPr>
            <a:r>
              <a:t>The retail industry average for labor costs in relation to revenue was 20% in 2025</a:t>
            </a:r>
          </a:p>
          <a:p>
            <a:pPr>
              <a:spcAft>
                <a:spcPts val="400"/>
              </a:spcAft>
              <a:defRPr sz="1600">
                <a:solidFill>
                  <a:srgbClr val="FFD700"/>
                </a:solidFill>
              </a:defRPr>
            </a:pPr>
            <a:r>
              <a:t>Lee's Market saw a 3% decrease in labor costs as a percentage of revenue from 2024 to 2025</a:t>
            </a:r>
          </a:p>
          <a:p>
            <a:pPr>
              <a:spcAft>
                <a:spcPts val="400"/>
              </a:spcAft>
              <a:defRPr sz="1600">
                <a:solidFill>
                  <a:srgbClr val="404040"/>
                </a:solidFill>
              </a:defRPr>
            </a:pPr>
            <a:r>
              <a:t>Revenue per employee in 2025 was approximately $100,000</a:t>
            </a:r>
          </a:p>
          <a:p>
            <a:pPr>
              <a:spcAft>
                <a:spcPts val="400"/>
              </a:spcAft>
              <a:defRPr sz="1600">
                <a:solidFill>
                  <a:srgbClr val="404040"/>
                </a:solidFill>
              </a:defRPr>
            </a:pPr>
            <a:r>
              <a:t>The company's revenue growth rate was 5% in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Average Annual Wage for Grocery Associates in 2025</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retail industry average wage for grocery associates was $30,000 in 2025</a:t>
            </a:r>
          </a:p>
          <a:p>
            <a:pPr>
              <a:spcAft>
                <a:spcPts val="600"/>
              </a:spcAft>
              <a:defRPr sz="1800">
                <a:solidFill>
                  <a:srgbClr val="404040"/>
                </a:solidFill>
              </a:defRPr>
            </a:pPr>
            <a:r>
              <a:t>Lee's Market implemented a new wage structure in 2025</a:t>
            </a:r>
          </a:p>
          <a:p>
            <a:pPr>
              <a:spcAft>
                <a:spcPts val="600"/>
              </a:spcAft>
              <a:defRPr sz="1800">
                <a:solidFill>
                  <a:srgbClr val="FFD700"/>
                </a:solidFill>
              </a:defRPr>
            </a:pPr>
            <a:r>
              <a:t>The company offered competitive benefits to supplement the wages of grocery associates</a:t>
            </a:r>
          </a:p>
          <a:p>
            <a:pPr>
              <a:spcAft>
                <a:spcPts val="600"/>
              </a:spcAft>
              <a:defRPr sz="1800">
                <a:solidFill>
                  <a:srgbClr val="404040"/>
                </a:solidFill>
              </a:defRPr>
            </a:pPr>
            <a:r>
              <a:t>The wage for grocery associates varied across different provinces in Canada</a:t>
            </a:r>
          </a:p>
          <a:p>
            <a:pPr>
              <a:spcAft>
                <a:spcPts val="600"/>
              </a:spcAft>
              <a:defRPr sz="1800">
                <a:solidFill>
                  <a:srgbClr val="404040"/>
                </a:solidFill>
              </a:defRPr>
            </a:pPr>
            <a:r>
              <a:t>Wage rates were evaluated annually based on performance and market trends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Impact of Wage Changes on Employee Retention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Lee's Market saw a 2% increase in employee retention rate in 2025</a:t>
            </a:r>
          </a:p>
          <a:p>
            <a:pPr>
              <a:spcAft>
                <a:spcPts val="600"/>
              </a:spcAft>
              <a:defRPr sz="1800">
                <a:solidFill>
                  <a:srgbClr val="404040"/>
                </a:solidFill>
              </a:defRPr>
            </a:pPr>
            <a:r>
              <a:t>Wage changes were communicated transparently to all employees</a:t>
            </a:r>
          </a:p>
          <a:p>
            <a:pPr>
              <a:spcAft>
                <a:spcPts val="600"/>
              </a:spcAft>
              <a:defRPr sz="1800">
                <a:solidFill>
                  <a:srgbClr val="FFD700"/>
                </a:solidFill>
              </a:defRPr>
            </a:pPr>
            <a:r>
              <a:t>The company offered various non-monetary benefits to increase employee satisfaction</a:t>
            </a:r>
          </a:p>
          <a:p>
            <a:pPr>
              <a:spcAft>
                <a:spcPts val="600"/>
              </a:spcAft>
              <a:defRPr sz="1800">
                <a:solidFill>
                  <a:srgbClr val="404040"/>
                </a:solidFill>
              </a:defRPr>
            </a:pPr>
            <a:r>
              <a:t>Employee turnover rate decreased by 1.5% in 2025</a:t>
            </a:r>
          </a:p>
          <a:p>
            <a:pPr>
              <a:spcAft>
                <a:spcPts val="600"/>
              </a:spcAft>
              <a:defRPr sz="1800">
                <a:solidFill>
                  <a:srgbClr val="404040"/>
                </a:solidFill>
              </a:defRPr>
            </a:pPr>
            <a:r>
              <a:t>A comprehensive employee satisfaction survey was conducted in Q3 of 2025</a:t>
            </a:r>
          </a:p>
          <a:p>
            <a:pPr>
              <a:spcAft>
                <a:spcPts val="600"/>
              </a:spcAft>
              <a:defRPr sz="1800">
                <a:solidFill>
                  <a:srgbClr val="FFD700"/>
                </a:solidFill>
              </a:defRPr>
            </a:pPr>
            <a:r>
              <a:t>The company's competitive wage and benefits package was a key factor in retaining employees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Understanding the average annual wage for our grocery associates is key to managing labor costs and improving retention. We must continue to monitor these trends and adjust our compensation strategies accordingly.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