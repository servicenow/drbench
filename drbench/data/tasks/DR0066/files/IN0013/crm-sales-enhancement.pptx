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CRM Data Analytics for Sales Enhancement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mission to accelerate the transition to zero-emission transportation, understanding our customers and their behaviors is crucial. This presentation will discuss how we can harness data from our CRM system to identify patterns and drive sales.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Understanding our Customer Profile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CRM data suggests a higher conversion rate for personalized emails containing vehicle configuration recommendations.</a:t>
            </a:r>
          </a:p>
          <a:p>
            <a:pPr>
              <a:spcAft>
                <a:spcPts val="400"/>
              </a:spcAft>
              <a:defRPr sz="1600">
                <a:solidFill>
                  <a:srgbClr val="404040"/>
                </a:solidFill>
              </a:defRPr>
            </a:pPr>
            <a:r>
              <a:t>Over Q3 2024, the conversion rate for such personalized content stood at 9.7%.</a:t>
            </a:r>
          </a:p>
          <a:p>
            <a:pPr>
              <a:spcAft>
                <a:spcPts val="400"/>
              </a:spcAft>
              <a:defRPr sz="1600">
                <a:solidFill>
                  <a:srgbClr val="FF8243"/>
                </a:solidFill>
              </a:defRPr>
            </a:pPr>
            <a:r>
              <a:t>In the same period, generic content emails witnessed a significantly lower conversion at 5.3%.</a:t>
            </a:r>
          </a:p>
          <a:p>
            <a:pPr>
              <a:spcAft>
                <a:spcPts val="400"/>
              </a:spcAft>
              <a:defRPr sz="1600">
                <a:solidFill>
                  <a:srgbClr val="404040"/>
                </a:solidFill>
              </a:defRPr>
            </a:pPr>
            <a:r>
              <a:t>This resulted in a stark difference in unit sales - 234 units sold via personalized emails compared to 167 through generic content.</a:t>
            </a:r>
          </a:p>
          <a:p>
            <a:pPr>
              <a:spcAft>
                <a:spcPts val="400"/>
              </a:spcAft>
              <a:defRPr sz="1600">
                <a:solidFill>
                  <a:srgbClr val="404040"/>
                </a:solidFill>
              </a:defRPr>
            </a:pPr>
            <a:r>
              <a:t>The highest impact was observed when such personalized content reached the potential customers within 10 days of their initial inquiry.</a:t>
            </a:r>
          </a:p>
          <a:p>
            <a:pPr>
              <a:spcAft>
                <a:spcPts val="400"/>
              </a:spcAft>
              <a:defRPr sz="1600">
                <a:solidFill>
                  <a:srgbClr val="FF8243"/>
                </a:solidFill>
              </a:defRPr>
            </a:pPr>
            <a:r>
              <a:t>This indicates a clear preference among our customers for personalized and timely communication.</a:t>
            </a:r>
          </a:p>
          <a:p>
            <a:pPr>
              <a:spcAft>
                <a:spcPts val="400"/>
              </a:spcAft>
              <a:defRPr sz="1600">
                <a:solidFill>
                  <a:srgbClr val="404040"/>
                </a:solidFill>
              </a:defRPr>
            </a:pPr>
            <a:r>
              <a:t>Leveraging this insight could potentially enhance our online sales strategy and the overall customer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CRM Data: Unearthing Patterns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queries peak during new product launches</a:t>
            </a:r>
          </a:p>
          <a:p>
            <a:pPr>
              <a:spcAft>
                <a:spcPts val="600"/>
              </a:spcAft>
              <a:defRPr sz="1800">
                <a:solidFill>
                  <a:srgbClr val="404040"/>
                </a:solidFill>
              </a:defRPr>
            </a:pPr>
            <a:r>
              <a:t>We've noticed a correlation between customer satisfaction and repeat purchases</a:t>
            </a:r>
          </a:p>
          <a:p>
            <a:pPr>
              <a:spcAft>
                <a:spcPts val="600"/>
              </a:spcAft>
              <a:defRPr sz="1800">
                <a:solidFill>
                  <a:srgbClr val="FF8243"/>
                </a:solidFill>
              </a:defRPr>
            </a:pPr>
            <a:r>
              <a:t>Our CRM data shows an increase in customer inquiries during holiday seasons</a:t>
            </a:r>
          </a:p>
          <a:p>
            <a:pPr>
              <a:spcAft>
                <a:spcPts val="600"/>
              </a:spcAft>
              <a:defRPr sz="1800">
                <a:solidFill>
                  <a:srgbClr val="404040"/>
                </a:solidFill>
              </a:defRPr>
            </a:pPr>
            <a:r>
              <a:t>There's a positive correlation between newsletter engagement and product inquiries</a:t>
            </a:r>
          </a:p>
          <a:p>
            <a:pPr>
              <a:spcAft>
                <a:spcPts val="600"/>
              </a:spcAft>
              <a:defRPr sz="1800">
                <a:solidFill>
                  <a:srgbClr val="404040"/>
                </a:solidFill>
              </a:defRPr>
            </a:pPr>
            <a:r>
              <a:t>We've seen a trend of customers preferring to contact us via email rather than phone calls</a:t>
            </a:r>
          </a:p>
          <a:p>
            <a:pPr>
              <a:spcAft>
                <a:spcPts val="600"/>
              </a:spcAft>
              <a:defRPr sz="1800">
                <a:solidFill>
                  <a:srgbClr val="FF8243"/>
                </a:solidFill>
              </a:defRPr>
            </a:pPr>
            <a:r>
              <a:t>Customers who frequently visit our product pages are more likely to make a purchase</a:t>
            </a:r>
          </a:p>
          <a:p>
            <a:pPr>
              <a:spcAft>
                <a:spcPts val="600"/>
              </a:spcAft>
              <a:defRPr sz="1800">
                <a:solidFill>
                  <a:srgbClr val="404040"/>
                </a:solidFill>
              </a:defRPr>
            </a:pPr>
            <a:r>
              <a:t>Most customers who made a purchase had at least three interactions with our sales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Leveraging CRM Data for Sales Strategy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sales team uses CRM data for lead prioritization</a:t>
            </a:r>
          </a:p>
          <a:p>
            <a:pPr>
              <a:spcAft>
                <a:spcPts val="600"/>
              </a:spcAft>
              <a:defRPr sz="1800">
                <a:solidFill>
                  <a:srgbClr val="404040"/>
                </a:solidFill>
              </a:defRPr>
            </a:pPr>
            <a:r>
              <a:t>CRM data helps in personalizing communication with potential customers</a:t>
            </a:r>
          </a:p>
          <a:p>
            <a:pPr>
              <a:spcAft>
                <a:spcPts val="600"/>
              </a:spcAft>
              <a:defRPr sz="1800">
                <a:solidFill>
                  <a:srgbClr val="FF8243"/>
                </a:solidFill>
              </a:defRPr>
            </a:pPr>
            <a:r>
              <a:t>We use CRM data to streamline our sales processes</a:t>
            </a:r>
          </a:p>
          <a:p>
            <a:pPr>
              <a:spcAft>
                <a:spcPts val="600"/>
              </a:spcAft>
              <a:defRPr sz="1800">
                <a:solidFill>
                  <a:srgbClr val="404040"/>
                </a:solidFill>
              </a:defRPr>
            </a:pPr>
            <a:r>
              <a:t>CRM data is critical in understanding customer purchase history and creating upsell opportunities</a:t>
            </a:r>
          </a:p>
          <a:p>
            <a:pPr>
              <a:spcAft>
                <a:spcPts val="600"/>
              </a:spcAft>
              <a:defRPr sz="1800">
                <a:solidFill>
                  <a:srgbClr val="404040"/>
                </a:solidFill>
              </a:defRPr>
            </a:pPr>
            <a:r>
              <a:t>Our CRM data aids in segmenting our customers for targeted marketing</a:t>
            </a:r>
          </a:p>
          <a:p>
            <a:pPr>
              <a:spcAft>
                <a:spcPts val="600"/>
              </a:spcAft>
              <a:defRPr sz="1800">
                <a:solidFill>
                  <a:srgbClr val="FF8243"/>
                </a:solidFill>
              </a:defRPr>
            </a:pPr>
            <a:r>
              <a:t>The sales team uses CRM data to forecast sales trends</a:t>
            </a:r>
          </a:p>
          <a:p>
            <a:pPr>
              <a:spcAft>
                <a:spcPts val="600"/>
              </a:spcAft>
              <a:defRPr sz="1800">
                <a:solidFill>
                  <a:srgbClr val="404040"/>
                </a:solidFill>
              </a:defRPr>
            </a:pPr>
            <a:r>
              <a:t>We leverage CRM data to identify opportunities for cross-selling and bundle offerings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By analyzing CRM data, we can better understand our customers and identify patterns that enhance our sales strategy. This approach will complement our efforts towards sustainable transportation solutions while supporting our growth targets.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