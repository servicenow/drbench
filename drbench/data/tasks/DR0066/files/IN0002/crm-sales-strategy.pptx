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CRM Data-Driven Sales Strategy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shift towards a data-driven decision-making process, it is key to leverage our customer relationship management system to better understand our customer behavior online. This presentation will explore potential strategies to identify patterns that can drive our sales forward.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Understanding Current CRM Data Utilization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CRM system shows an overall 4.8% conversion rate for qualified digital leads across all channels as of October 2023.</a:t>
            </a:r>
          </a:p>
          <a:p>
            <a:pPr>
              <a:spcAft>
                <a:spcPts val="600"/>
              </a:spcAft>
              <a:defRPr sz="1800">
                <a:solidFill>
                  <a:srgbClr val="404040"/>
                </a:solidFill>
              </a:defRPr>
            </a:pPr>
            <a:r>
              <a:t>With the emerging shift towards online car purchasing, our digital sales channels are becoming increasingly important for Elexion's business model.</a:t>
            </a:r>
          </a:p>
          <a:p>
            <a:pPr>
              <a:spcAft>
                <a:spcPts val="600"/>
              </a:spcAft>
              <a:defRPr sz="1800">
                <a:solidFill>
                  <a:srgbClr val="FFC000"/>
                </a:solidFill>
              </a:defRPr>
            </a:pPr>
            <a:r>
              <a:t>The 4.8% conversion rate provides opportunities to improve our online sales process and increase customer engagement.</a:t>
            </a:r>
          </a:p>
          <a:p>
            <a:pPr>
              <a:spcAft>
                <a:spcPts val="600"/>
              </a:spcAft>
              <a:defRPr sz="1800">
                <a:solidFill>
                  <a:srgbClr val="404040"/>
                </a:solidFill>
              </a:defRPr>
            </a:pPr>
            <a:r>
              <a:t>Given the industry trend towards direct-to-customer sales, optimizing our online sales funnel could significantly boost the lead-to-sale conversion rate.</a:t>
            </a:r>
          </a:p>
          <a:p>
            <a:pPr>
              <a:spcAft>
                <a:spcPts val="600"/>
              </a:spcAft>
              <a:defRPr sz="1800">
                <a:solidFill>
                  <a:srgbClr val="404040"/>
                </a:solidFill>
              </a:defRPr>
            </a:pPr>
            <a:r>
              <a:t>By examining the journey of our converted leads, we can identify successful digital touchpoints and replicate this success across other channels.</a:t>
            </a:r>
          </a:p>
          <a:p>
            <a:pPr>
              <a:spcAft>
                <a:spcPts val="600"/>
              </a:spcAft>
              <a:defRPr sz="1800">
                <a:solidFill>
                  <a:srgbClr val="FFC000"/>
                </a:solidFill>
              </a:defRPr>
            </a:pPr>
            <a:r>
              <a:t>It's critical to analyze the behavior of the 95.2% of digital leads that do not convert to increase our conversion rate moving forward.</a:t>
            </a:r>
          </a:p>
          <a:p>
            <a:pPr>
              <a:spcAft>
                <a:spcPts val="600"/>
              </a:spcAft>
              <a:defRPr sz="1800">
                <a:solidFill>
                  <a:srgbClr val="404040"/>
                </a:solidFill>
              </a:defRPr>
            </a:pPr>
            <a:r>
              <a:t>Leveraging data from our CRM system, we can build a predictive model to identify high potential leads and streamline our sales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Insights from Online Customer Behavior Analysis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website analytics show that most visitors spend time on the 'Models' and 'About Us' pages</a:t>
            </a:r>
          </a:p>
          <a:p>
            <a:pPr>
              <a:spcAft>
                <a:spcPts val="600"/>
              </a:spcAft>
              <a:defRPr sz="1800">
                <a:solidFill>
                  <a:srgbClr val="404040"/>
                </a:solidFill>
              </a:defRPr>
            </a:pPr>
            <a:r>
              <a:t>Average website visit length is around 7.5 minutes</a:t>
            </a:r>
          </a:p>
          <a:p>
            <a:pPr>
              <a:spcAft>
                <a:spcPts val="600"/>
              </a:spcAft>
              <a:defRPr sz="1800">
                <a:solidFill>
                  <a:srgbClr val="FFC000"/>
                </a:solidFill>
              </a:defRPr>
            </a:pPr>
            <a:r>
              <a:t>A customer's first website visit typically happens 30-45 days prior to an inquiry</a:t>
            </a:r>
          </a:p>
          <a:p>
            <a:pPr>
              <a:spcAft>
                <a:spcPts val="600"/>
              </a:spcAft>
              <a:defRPr sz="1800">
                <a:solidFill>
                  <a:srgbClr val="404040"/>
                </a:solidFill>
              </a:defRPr>
            </a:pPr>
            <a:r>
              <a:t>Approximately 60% of customers engage with our online chat support</a:t>
            </a:r>
          </a:p>
          <a:p>
            <a:pPr>
              <a:spcAft>
                <a:spcPts val="600"/>
              </a:spcAft>
              <a:defRPr sz="1800">
                <a:solidFill>
                  <a:srgbClr val="404040"/>
                </a:solidFill>
              </a:defRPr>
            </a:pPr>
            <a:r>
              <a:t>Our email marketing campaigns have an average open rate of 20%</a:t>
            </a:r>
          </a:p>
          <a:p>
            <a:pPr>
              <a:spcAft>
                <a:spcPts val="600"/>
              </a:spcAft>
              <a:defRPr sz="1800">
                <a:solidFill>
                  <a:srgbClr val="FFC000"/>
                </a:solidFill>
              </a:defRPr>
            </a:pPr>
            <a:r>
              <a:t>Social media channels contribute to about 15% of website traffic</a:t>
            </a:r>
          </a:p>
          <a:p>
            <a:pPr>
              <a:spcAft>
                <a:spcPts val="600"/>
              </a:spcAft>
              <a:defRPr sz="1800">
                <a:solidFill>
                  <a:srgbClr val="404040"/>
                </a:solidFill>
              </a:defRPr>
            </a:pPr>
            <a:r>
              <a:t>We've noticed an uptick in website visits during weekends and holidays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Implementing Data-Driven Sales Initiatives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 Automotive implemented a data-driven sales strategy in Q2 2022</a:t>
            </a:r>
          </a:p>
          <a:p>
            <a:pPr>
              <a:spcAft>
                <a:spcPts val="400"/>
              </a:spcAft>
              <a:defRPr sz="1600">
                <a:solidFill>
                  <a:srgbClr val="404040"/>
                </a:solidFill>
              </a:defRPr>
            </a:pPr>
            <a:r>
              <a:t>The strategy relies on market trends data, competitor analysis, and customer feedback</a:t>
            </a:r>
          </a:p>
          <a:p>
            <a:pPr>
              <a:spcAft>
                <a:spcPts val="400"/>
              </a:spcAft>
              <a:defRPr sz="1600">
                <a:solidFill>
                  <a:srgbClr val="FFC000"/>
                </a:solidFill>
              </a:defRPr>
            </a:pPr>
            <a:r>
              <a:t>The strategy has led to a 15% increase in sales year-over-year</a:t>
            </a:r>
          </a:p>
          <a:p>
            <a:pPr>
              <a:spcAft>
                <a:spcPts val="400"/>
              </a:spcAft>
              <a:defRPr sz="1600">
                <a:solidFill>
                  <a:srgbClr val="404040"/>
                </a:solidFill>
              </a:defRPr>
            </a:pPr>
            <a:r>
              <a:t>Sales reps are assigned targets based on historical performance data</a:t>
            </a:r>
          </a:p>
          <a:p>
            <a:pPr>
              <a:spcAft>
                <a:spcPts val="400"/>
              </a:spcAft>
              <a:defRPr sz="1600">
                <a:solidFill>
                  <a:srgbClr val="404040"/>
                </a:solidFill>
              </a:defRPr>
            </a:pPr>
            <a:r>
              <a:t>Quarterly sales forecasts utilize predictive data modeling techniques</a:t>
            </a:r>
          </a:p>
          <a:p>
            <a:pPr>
              <a:spcAft>
                <a:spcPts val="400"/>
              </a:spcAft>
              <a:defRPr sz="1600">
                <a:solidFill>
                  <a:srgbClr val="FFC000"/>
                </a:solidFill>
              </a:defRPr>
            </a:pPr>
            <a:r>
              <a:t>Sales and marketing teams collaborate on data-backed promotional campaigns</a:t>
            </a:r>
          </a:p>
          <a:p>
            <a:pPr>
              <a:spcAft>
                <a:spcPts val="400"/>
              </a:spcAft>
              <a:defRPr sz="1600">
                <a:solidFill>
                  <a:srgbClr val="404040"/>
                </a:solidFill>
              </a:defRPr>
            </a:pPr>
            <a:r>
              <a:t>A/B testing is utilized to optimize sales pitches and promotional materials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Adopting a data-driven approach to sales will not only enhance our customer understanding but also provide an impetus to our sales efforts. Moving forward, it is crucial for us to continually refine our CRM analysis process and implement the necessary changes to drive sales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