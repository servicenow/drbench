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Optimizing Patient Appointment Experience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light of recent feedback on our appointment booking process, we need to critically examine and identify the areas that require improvement. This presentation aims to evaluate whether our booking tool design or customer support processes are hindering patient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Analyzing Patient Feedback on Booking Tools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Q4 2024, 11% of all booking attempts, equating to 5,200 users, discontinued their booking attempt at the coverage verification phase.</a:t>
            </a:r>
          </a:p>
          <a:p>
            <a:pPr>
              <a:spcAft>
                <a:spcPts val="400"/>
              </a:spcAft>
              <a:defRPr sz="1600">
                <a:solidFill>
                  <a:srgbClr val="404040"/>
                </a:solidFill>
              </a:defRPr>
            </a:pPr>
            <a:r>
              <a:t>These users ceased their booking process specifically during provincial health card and supplemental insurance validation.</a:t>
            </a:r>
          </a:p>
          <a:p>
            <a:pPr>
              <a:spcAft>
                <a:spcPts val="400"/>
              </a:spcAft>
              <a:defRPr sz="1600">
                <a:solidFill>
                  <a:srgbClr val="FFC000"/>
                </a:solidFill>
              </a:defRPr>
            </a:pPr>
            <a:r>
              <a:t>Interestingly, these users made no attempts to contact our support team, implying a potential confusion or frustration with the process.</a:t>
            </a:r>
          </a:p>
          <a:p>
            <a:pPr>
              <a:spcAft>
                <a:spcPts val="400"/>
              </a:spcAft>
              <a:defRPr sz="1600">
                <a:solidFill>
                  <a:srgbClr val="404040"/>
                </a:solidFill>
              </a:defRPr>
            </a:pPr>
            <a:r>
              <a:t>This abandonment could indicate a lack of clarity or user-friendliness in our coverage verification step.</a:t>
            </a:r>
          </a:p>
          <a:p>
            <a:pPr>
              <a:spcAft>
                <a:spcPts val="400"/>
              </a:spcAft>
              <a:defRPr sz="1600">
                <a:solidFill>
                  <a:srgbClr val="404040"/>
                </a:solidFill>
              </a:defRPr>
            </a:pPr>
            <a:r>
              <a:t>This data prompts us to consider the need for a more intuitive interface or additional help resources at this critical juncture in the booking process.</a:t>
            </a:r>
          </a:p>
          <a:p>
            <a:pPr>
              <a:spcAft>
                <a:spcPts val="400"/>
              </a:spcAft>
              <a:defRPr sz="1600">
                <a:solidFill>
                  <a:srgbClr val="FFC000"/>
                </a:solidFill>
              </a:defRPr>
            </a:pPr>
            <a:r>
              <a:t>We need to investigate if this pattern is consistent across different periods or if it is a unique occurrence in Q4 2024.</a:t>
            </a:r>
          </a:p>
          <a:p>
            <a:pPr>
              <a:spcAft>
                <a:spcPts val="400"/>
              </a:spcAft>
              <a:defRPr sz="1600">
                <a:solidFill>
                  <a:srgbClr val="404040"/>
                </a:solidFill>
              </a:defRPr>
            </a:pPr>
            <a:r>
              <a:t>Understanding the root cause of this issue is vital to improving our platform's usability and overall patient experience.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Assessing Efficiency of Customer Support Processes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customer support team has a 95% satisfaction rate based on post-call surveys</a:t>
            </a:r>
          </a:p>
          <a:p>
            <a:pPr>
              <a:spcAft>
                <a:spcPts val="600"/>
              </a:spcAft>
              <a:defRPr sz="1800">
                <a:solidFill>
                  <a:srgbClr val="404040"/>
                </a:solidFill>
              </a:defRPr>
            </a:pPr>
            <a:r>
              <a:t>Average call wait time in Q4 2021 was under 3 minutes</a:t>
            </a:r>
          </a:p>
          <a:p>
            <a:pPr>
              <a:spcAft>
                <a:spcPts val="600"/>
              </a:spcAft>
              <a:defRPr sz="1800">
                <a:solidFill>
                  <a:srgbClr val="FFC000"/>
                </a:solidFill>
              </a:defRPr>
            </a:pPr>
            <a:r>
              <a:t>We implemented a new customer support training program in 2021, leading to a 10% improvement in call resolution times</a:t>
            </a:r>
          </a:p>
          <a:p>
            <a:pPr>
              <a:spcAft>
                <a:spcPts val="600"/>
              </a:spcAft>
              <a:defRPr sz="1800">
                <a:solidFill>
                  <a:srgbClr val="404040"/>
                </a:solidFill>
              </a:defRPr>
            </a:pPr>
            <a:r>
              <a:t>Our customer support department received the 'Excellence in Service' award in 2023</a:t>
            </a:r>
          </a:p>
          <a:p>
            <a:pPr>
              <a:spcAft>
                <a:spcPts val="600"/>
              </a:spcAft>
              <a:defRPr sz="1800">
                <a:solidFill>
                  <a:srgbClr val="404040"/>
                </a:solidFill>
              </a:defRPr>
            </a:pPr>
            <a:r>
              <a:t>We have successfully reduced the number of repeat calls by 15% in the last year</a:t>
            </a:r>
          </a:p>
          <a:p>
            <a:pPr>
              <a:spcAft>
                <a:spcPts val="600"/>
              </a:spcAft>
              <a:defRPr sz="1800">
                <a:solidFill>
                  <a:srgbClr val="FFC000"/>
                </a:solidFill>
              </a:defRPr>
            </a:pPr>
            <a:r>
              <a:t>On average, customer support representatives resolve issues within the first call 90% of the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Identifying Root Causes for Appointment Booking Issues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We have a dedicated team to monitor and address any technical issues with the booking tool</a:t>
            </a:r>
          </a:p>
          <a:p>
            <a:pPr>
              <a:spcAft>
                <a:spcPts val="600"/>
              </a:spcAft>
              <a:defRPr sz="1800">
                <a:solidFill>
                  <a:srgbClr val="404040"/>
                </a:solidFill>
              </a:defRPr>
            </a:pPr>
            <a:r>
              <a:t>Our IT department conducts weekly system checks to ensure the functionality of the booking tool</a:t>
            </a:r>
          </a:p>
          <a:p>
            <a:pPr>
              <a:spcAft>
                <a:spcPts val="600"/>
              </a:spcAft>
              <a:defRPr sz="1800">
                <a:solidFill>
                  <a:srgbClr val="FFC000"/>
                </a:solidFill>
              </a:defRPr>
            </a:pPr>
            <a:r>
              <a:t>Customer support team is trained to troubleshoot common booking tool problems</a:t>
            </a:r>
          </a:p>
          <a:p>
            <a:pPr>
              <a:spcAft>
                <a:spcPts val="600"/>
              </a:spcAft>
              <a:defRPr sz="1800">
                <a:solidFill>
                  <a:srgbClr val="404040"/>
                </a:solidFill>
              </a:defRPr>
            </a:pPr>
            <a:r>
              <a:t>We regularly update our FAQs and support documents based on common issues reported</a:t>
            </a:r>
          </a:p>
          <a:p>
            <a:pPr>
              <a:spcAft>
                <a:spcPts val="600"/>
              </a:spcAft>
              <a:defRPr sz="1800">
                <a:solidFill>
                  <a:srgbClr val="404040"/>
                </a:solidFill>
              </a:defRPr>
            </a:pPr>
            <a:r>
              <a:t>We have a strong feedback loop between the customer support and product development teams</a:t>
            </a:r>
          </a:p>
          <a:p>
            <a:pPr>
              <a:spcAft>
                <a:spcPts val="600"/>
              </a:spcAft>
              <a:defRPr sz="1800">
                <a:solidFill>
                  <a:srgbClr val="FFC000"/>
                </a:solidFill>
              </a:defRPr>
            </a:pPr>
            <a:r>
              <a:t>Our product roadmap includes regular updates and improvements to the booking tool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We've identified key areas in our booking and support processes that require immediate attention. Moving forward, we will implement necessary changes to enhance our patients' overall experience and satisfaction.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