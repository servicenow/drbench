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191970"/>
                </a:solidFill>
              </a:defRPr>
            </a:pPr>
            <a:r>
              <a:t>Customer Service Metrics and Insights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Today, we will explore various aspects of our customer service performance, particularly focusing on frequent callers. This will provide insights into our service efficiency and areas for potential improvement.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Customer Service Overview: Monthly Trends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In the past year, MediConn Solutions has seen a 15% increase in overall customer service calls</a:t>
            </a:r>
          </a:p>
          <a:p>
            <a:pPr>
              <a:spcAft>
                <a:spcPts val="400"/>
              </a:spcAft>
              <a:defRPr sz="1600">
                <a:solidFill>
                  <a:srgbClr val="404040"/>
                </a:solidFill>
              </a:defRPr>
            </a:pPr>
            <a:r>
              <a:t>The most common reasons for customer service inquiries are related to platform navigation and appointment scheduling</a:t>
            </a:r>
          </a:p>
          <a:p>
            <a:pPr>
              <a:spcAft>
                <a:spcPts val="400"/>
              </a:spcAft>
              <a:defRPr sz="1600">
                <a:solidFill>
                  <a:srgbClr val="FFA500"/>
                </a:solidFill>
              </a:defRPr>
            </a:pPr>
            <a:r>
              <a:t>An estimated 30% of calls are resolved within the first 5 minutes of the conversation</a:t>
            </a:r>
          </a:p>
          <a:p>
            <a:pPr>
              <a:spcAft>
                <a:spcPts val="400"/>
              </a:spcAft>
              <a:defRPr sz="1600">
                <a:solidFill>
                  <a:srgbClr val="404040"/>
                </a:solidFill>
              </a:defRPr>
            </a:pPr>
            <a:r>
              <a:t>Our customer satisfaction rates have maintained an average of 85% over the past six months</a:t>
            </a:r>
          </a:p>
          <a:p>
            <a:pPr>
              <a:spcAft>
                <a:spcPts val="400"/>
              </a:spcAft>
              <a:defRPr sz="1600">
                <a:solidFill>
                  <a:srgbClr val="404040"/>
                </a:solidFill>
              </a:defRPr>
            </a:pPr>
            <a:r>
              <a:t>Around 20% of calls are made outside of regular business hours, indicating a need for extended support</a:t>
            </a:r>
          </a:p>
          <a:p>
            <a:pPr>
              <a:spcAft>
                <a:spcPts val="400"/>
              </a:spcAft>
              <a:defRPr sz="1600">
                <a:solidFill>
                  <a:srgbClr val="FFA500"/>
                </a:solidFill>
              </a:defRPr>
            </a:pPr>
            <a:r>
              <a:t>Approximately 10% of calls are from new users seeking assistance with account setup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Repeated Caller Analysis: Frequency and Issues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The majority of repeat callers are aged between 45-65 years</a:t>
            </a:r>
          </a:p>
          <a:p>
            <a:pPr>
              <a:spcAft>
                <a:spcPts val="600"/>
              </a:spcAft>
              <a:defRPr sz="1800">
                <a:solidFill>
                  <a:srgbClr val="404040"/>
                </a:solidFill>
              </a:defRPr>
            </a:pPr>
            <a:r>
              <a:t>Technical difficulties with the virtual platform account for 60% of repeat calls</a:t>
            </a:r>
          </a:p>
          <a:p>
            <a:pPr>
              <a:spcAft>
                <a:spcPts val="600"/>
              </a:spcAft>
              <a:defRPr sz="1800">
                <a:solidFill>
                  <a:srgbClr val="FFA500"/>
                </a:solidFill>
              </a:defRPr>
            </a:pPr>
            <a:r>
              <a:t>Around 25% of repeat callers require assistance with billing concerns</a:t>
            </a:r>
          </a:p>
          <a:p>
            <a:pPr>
              <a:spcAft>
                <a:spcPts val="600"/>
              </a:spcAft>
              <a:defRPr sz="1800">
                <a:solidFill>
                  <a:srgbClr val="404040"/>
                </a:solidFill>
              </a:defRPr>
            </a:pPr>
            <a:r>
              <a:t>We've noticed a slight increase in repeat calls during peak flu season</a:t>
            </a:r>
          </a:p>
          <a:p>
            <a:pPr>
              <a:spcAft>
                <a:spcPts val="600"/>
              </a:spcAft>
              <a:defRPr sz="1800">
                <a:solidFill>
                  <a:srgbClr val="404040"/>
                </a:solidFill>
              </a:defRPr>
            </a:pPr>
            <a:r>
              <a:t>Approximately 15% of repeat calls are due to confusion around insurance coverage</a:t>
            </a:r>
          </a:p>
          <a:p>
            <a:pPr>
              <a:spcAft>
                <a:spcPts val="600"/>
              </a:spcAft>
              <a:defRPr sz="1800">
                <a:solidFill>
                  <a:srgbClr val="FFA500"/>
                </a:solidFill>
              </a:defRPr>
            </a:pPr>
            <a:r>
              <a:t>Our records indicate that 30% of repeat callers have been using our services for less than a year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Impact on Resource Allocation: Current and Future</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Currently, 40% of our customer service budget is allocated towards training</a:t>
            </a:r>
          </a:p>
          <a:p>
            <a:pPr>
              <a:spcAft>
                <a:spcPts val="600"/>
              </a:spcAft>
              <a:defRPr sz="1800">
                <a:solidFill>
                  <a:srgbClr val="404040"/>
                </a:solidFill>
              </a:defRPr>
            </a:pPr>
            <a:r>
              <a:t>We have seen a 20% decrease in call volume after implementing a comprehensive FAQ section on our website</a:t>
            </a:r>
          </a:p>
          <a:p>
            <a:pPr>
              <a:spcAft>
                <a:spcPts val="600"/>
              </a:spcAft>
              <a:defRPr sz="1800">
                <a:solidFill>
                  <a:srgbClr val="FFA500"/>
                </a:solidFill>
              </a:defRPr>
            </a:pPr>
            <a:r>
              <a:t>Our future plans include investing in AI chatbots to handle minor inquiries</a:t>
            </a:r>
          </a:p>
          <a:p>
            <a:pPr>
              <a:spcAft>
                <a:spcPts val="600"/>
              </a:spcAft>
              <a:defRPr sz="1800">
                <a:solidFill>
                  <a:srgbClr val="404040"/>
                </a:solidFill>
              </a:defRPr>
            </a:pPr>
            <a:r>
              <a:t>We are considering outsourcing some of our customer service needs to manage increased call volume</a:t>
            </a:r>
          </a:p>
          <a:p>
            <a:pPr>
              <a:spcAft>
                <a:spcPts val="600"/>
              </a:spcAft>
              <a:defRPr sz="1800">
                <a:solidFill>
                  <a:srgbClr val="404040"/>
                </a:solidFill>
              </a:defRPr>
            </a:pPr>
            <a:r>
              <a:t>Our latest analysis shows that we may need to hire an additional 10% in customer service personnel next year</a:t>
            </a:r>
          </a:p>
          <a:p>
            <a:pPr>
              <a:spcAft>
                <a:spcPts val="600"/>
              </a:spcAft>
              <a:defRPr sz="1800">
                <a:solidFill>
                  <a:srgbClr val="FFA500"/>
                </a:solidFill>
              </a:defRPr>
            </a:pPr>
            <a:r>
              <a:t>We are planning to invest more in customer service training to improve first-call resolution rates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Conclusion</a:t>
            </a:r>
          </a:p>
        </p:txBody>
      </p:sp>
      <p:sp>
        <p:nvSpPr>
          <p:cNvPr id="3" name="Content Placeholder 2"/>
          <p:cNvSpPr>
            <a:spLocks noGrp="1"/>
          </p:cNvSpPr>
          <p:nvPr>
            <p:ph idx="1"/>
          </p:nvPr>
        </p:nvSpPr>
        <p:spPr>
          <a:xfrm>
            <a:off x="457200" y="1828800"/>
            <a:ext cx="4114800" cy="3657600"/>
          </a:xfrm>
        </p:spPr>
        <p:txBody>
          <a:bodyPr/>
          <a:lstStyle/>
          <a:p/>
          <a:p>
            <a:pPr>
              <a:spcAft>
                <a:spcPts val="800"/>
              </a:spcAft>
              <a:defRPr sz="1800" b="1">
                <a:solidFill>
                  <a:srgbClr val="FFA500"/>
                </a:solidFill>
              </a:defRPr>
            </a:pPr>
            <a:r>
              <a:t>Our analysis of repeated caller data provides valuable insights into potential areas for service improvement. Moving forward, we should consider strategies to reduce the frequency of repeat calls and allocate resources more efficiently.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