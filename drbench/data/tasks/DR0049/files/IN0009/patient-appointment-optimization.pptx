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Optimizing Patient Appointment Experience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to improve our virtual healthcare services, understanding the barriers to patient appointment booking is crucial. This presentation will analyze potential issues and suggest improvements.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Understanding Patient Booking Barriers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Q4 2024, a significant 42% of customer service calls were due to patients having difficulty identifying the appropriate appointment type.</a:t>
            </a:r>
          </a:p>
          <a:p>
            <a:pPr>
              <a:spcAft>
                <a:spcPts val="400"/>
              </a:spcAft>
              <a:defRPr sz="1600">
                <a:solidFill>
                  <a:srgbClr val="404040"/>
                </a:solidFill>
              </a:defRPr>
            </a:pPr>
            <a:r>
              <a:t>Another 28% of calls were made by patients experiencing issues with the system not recognizing their health card or coverage information.</a:t>
            </a:r>
          </a:p>
          <a:p>
            <a:pPr>
              <a:spcAft>
                <a:spcPts val="400"/>
              </a:spcAft>
              <a:defRPr sz="1600">
                <a:solidFill>
                  <a:srgbClr val="FFA500"/>
                </a:solidFill>
              </a:defRPr>
            </a:pPr>
            <a:r>
              <a:t>General confusion navigating the platform accounted for the remaining 30% of the booking-related calls.</a:t>
            </a:r>
          </a:p>
          <a:p>
            <a:pPr>
              <a:spcAft>
                <a:spcPts val="400"/>
              </a:spcAft>
              <a:defRPr sz="1600">
                <a:solidFill>
                  <a:srgbClr val="404040"/>
                </a:solidFill>
              </a:defRPr>
            </a:pPr>
            <a:r>
              <a:t>These findings highlight the need for redesigning our online booking tool to reduce the complexity of appointment type selection.</a:t>
            </a:r>
          </a:p>
          <a:p>
            <a:pPr>
              <a:spcAft>
                <a:spcPts val="400"/>
              </a:spcAft>
              <a:defRPr sz="1600">
                <a:solidFill>
                  <a:srgbClr val="404040"/>
                </a:solidFill>
              </a:defRPr>
            </a:pPr>
            <a:r>
              <a:t>Consideration should also be given to improving the system's ability to validate health cards and coverage details to reduce call volume.</a:t>
            </a:r>
          </a:p>
          <a:p>
            <a:pPr>
              <a:spcAft>
                <a:spcPts val="400"/>
              </a:spcAft>
              <a:defRPr sz="1600">
                <a:solidFill>
                  <a:srgbClr val="FFA500"/>
                </a:solidFill>
              </a:defRPr>
            </a:pPr>
            <a:r>
              <a:t>Simplifying the overall navigation of the platform could also potentially alleviate the volume of calls related to general confusion.</a:t>
            </a:r>
          </a:p>
          <a:p>
            <a:pPr>
              <a:spcAft>
                <a:spcPts val="400"/>
              </a:spcAft>
              <a:defRPr sz="1600">
                <a:solidFill>
                  <a:srgbClr val="404040"/>
                </a:solidFill>
              </a:defRPr>
            </a:pPr>
            <a:r>
              <a:t>Addressing these issues could lead to an improved patient experience, potentially enhancing customer satisfaction and retention rates.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Evaluating the Online Booking Tool</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current online booking tool was developed in-house and launched in Q2 2022</a:t>
            </a:r>
          </a:p>
          <a:p>
            <a:pPr>
              <a:spcAft>
                <a:spcPts val="400"/>
              </a:spcAft>
              <a:defRPr sz="1600">
                <a:solidFill>
                  <a:srgbClr val="404040"/>
                </a:solidFill>
              </a:defRPr>
            </a:pPr>
            <a:r>
              <a:t>Since its launch, the tool has processed over 200,000 bookings</a:t>
            </a:r>
          </a:p>
          <a:p>
            <a:pPr>
              <a:spcAft>
                <a:spcPts val="400"/>
              </a:spcAft>
              <a:defRPr sz="1600">
                <a:solidFill>
                  <a:srgbClr val="FFA500"/>
                </a:solidFill>
              </a:defRPr>
            </a:pPr>
            <a:r>
              <a:t>The tool supports cross-platform use, including mobile and desktop</a:t>
            </a:r>
          </a:p>
          <a:p>
            <a:pPr>
              <a:spcAft>
                <a:spcPts val="400"/>
              </a:spcAft>
              <a:defRPr sz="1600">
                <a:solidFill>
                  <a:srgbClr val="404040"/>
                </a:solidFill>
              </a:defRPr>
            </a:pPr>
            <a:r>
              <a:t>Approximately 15% of bookings are cancelled due to technical glitches</a:t>
            </a:r>
          </a:p>
          <a:p>
            <a:pPr>
              <a:spcAft>
                <a:spcPts val="400"/>
              </a:spcAft>
              <a:defRPr sz="1600">
                <a:solidFill>
                  <a:srgbClr val="404040"/>
                </a:solidFill>
              </a:defRPr>
            </a:pPr>
            <a:r>
              <a:t>We have a dedicated technical team responsible for maintaining and updating the tool</a:t>
            </a:r>
          </a:p>
          <a:p>
            <a:pPr>
              <a:spcAft>
                <a:spcPts val="400"/>
              </a:spcAft>
              <a:defRPr sz="1600">
                <a:solidFill>
                  <a:srgbClr val="FFA500"/>
                </a:solidFill>
              </a:defRPr>
            </a:pPr>
            <a:r>
              <a:t>Our competitors' tools offer features like instant confirmation and rescheduling, which are currently not available in our tool</a:t>
            </a:r>
          </a:p>
          <a:p>
            <a:pPr>
              <a:spcAft>
                <a:spcPts val="400"/>
              </a:spcAft>
              <a:defRPr sz="1600">
                <a:solidFill>
                  <a:srgbClr val="404040"/>
                </a:solidFill>
              </a:defRPr>
            </a:pPr>
            <a:r>
              <a:t>The tool's user interface is due for a design overhaul in Q3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Assessing Customer Support Processes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Our customer support operates 24/7, handling an average of 500 calls daily</a:t>
            </a:r>
          </a:p>
          <a:p>
            <a:pPr>
              <a:spcAft>
                <a:spcPts val="600"/>
              </a:spcAft>
              <a:defRPr sz="1800">
                <a:solidFill>
                  <a:srgbClr val="404040"/>
                </a:solidFill>
              </a:defRPr>
            </a:pPr>
            <a:r>
              <a:t>The department has a staff turnover rate of 15% annually</a:t>
            </a:r>
          </a:p>
          <a:p>
            <a:pPr>
              <a:spcAft>
                <a:spcPts val="600"/>
              </a:spcAft>
              <a:defRPr sz="1800">
                <a:solidFill>
                  <a:srgbClr val="FFA500"/>
                </a:solidFill>
              </a:defRPr>
            </a:pPr>
            <a:r>
              <a:t>Approximately 35% of calls received are related to booking issues</a:t>
            </a:r>
          </a:p>
          <a:p>
            <a:pPr>
              <a:spcAft>
                <a:spcPts val="600"/>
              </a:spcAft>
              <a:defRPr sz="1800">
                <a:solidFill>
                  <a:srgbClr val="404040"/>
                </a:solidFill>
              </a:defRPr>
            </a:pPr>
            <a:r>
              <a:t>Our team uses the CRM system to track and resolve customer complaints</a:t>
            </a:r>
          </a:p>
          <a:p>
            <a:pPr>
              <a:spcAft>
                <a:spcPts val="600"/>
              </a:spcAft>
              <a:defRPr sz="1800">
                <a:solidFill>
                  <a:srgbClr val="404040"/>
                </a:solidFill>
              </a:defRPr>
            </a:pPr>
            <a:r>
              <a:t>We have implemented a training program for new hires to familiarize them with our systems and processes</a:t>
            </a:r>
          </a:p>
          <a:p>
            <a:pPr>
              <a:spcAft>
                <a:spcPts val="600"/>
              </a:spcAft>
              <a:defRPr sz="1800">
                <a:solidFill>
                  <a:srgbClr val="FFA500"/>
                </a:solidFill>
              </a:defRPr>
            </a:pPr>
            <a:r>
              <a:t>Our average call handling time is around 10 minutes</a:t>
            </a:r>
          </a:p>
          <a:p>
            <a:pPr>
              <a:spcAft>
                <a:spcPts val="600"/>
              </a:spcAft>
              <a:defRPr sz="1800">
                <a:solidFill>
                  <a:srgbClr val="404040"/>
                </a:solidFill>
              </a:defRPr>
            </a:pPr>
            <a:r>
              <a:t>We have plans to introduce AI chatbots to assist in handling common customer queries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By thoroughly analyzing our booking tool and customer support processes, we can pinpoint and eliminate barriers to patient appointment booking. Let's focus on these areas for immediate improvement to enhance patient experience and satisfaction.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