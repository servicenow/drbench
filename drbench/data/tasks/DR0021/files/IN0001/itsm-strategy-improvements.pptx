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Improving ITSM Strategies at Lee's Market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light of our expansion, we must revamp our ITSM strategies to address incident, problem, and change management more efficiently. This presentation will explore potential improvements in IT governance, workflow automation, and system integration.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Current IT Governance Structure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Q3 2024 ITSM tracker has revealed a 22% surge in average incident resolution time, highlighting a crucial area for improvement.</a:t>
            </a:r>
          </a:p>
          <a:p>
            <a:pPr>
              <a:spcAft>
                <a:spcPts val="400"/>
              </a:spcAft>
              <a:defRPr sz="1600">
                <a:solidFill>
                  <a:srgbClr val="404040"/>
                </a:solidFill>
              </a:defRPr>
            </a:pPr>
            <a:r>
              <a:t>An identified cause for this increase is the disarticulated IT systems being used by our regional stores, causing inconsistencies and inefficiencies in incident resolution.</a:t>
            </a:r>
          </a:p>
          <a:p>
            <a:pPr>
              <a:spcAft>
                <a:spcPts val="400"/>
              </a:spcAft>
              <a:defRPr sz="1600">
                <a:solidFill>
                  <a:srgbClr val="FFC000"/>
                </a:solidFill>
              </a:defRPr>
            </a:pPr>
            <a:r>
              <a:t>Lack of standardized processes for incident, problem, and change management across the regions has further compounded the issue.</a:t>
            </a:r>
          </a:p>
          <a:p>
            <a:pPr>
              <a:spcAft>
                <a:spcPts val="400"/>
              </a:spcAft>
              <a:defRPr sz="1600">
                <a:solidFill>
                  <a:srgbClr val="404040"/>
                </a:solidFill>
              </a:defRPr>
            </a:pPr>
            <a:r>
              <a:t>Communication challenges within regional teams have led to inconsistencies in incident management, contributing to escalating resolution times.</a:t>
            </a:r>
          </a:p>
          <a:p>
            <a:pPr>
              <a:spcAft>
                <a:spcPts val="400"/>
              </a:spcAft>
              <a:defRPr sz="1600">
                <a:solidFill>
                  <a:srgbClr val="404040"/>
                </a:solidFill>
              </a:defRPr>
            </a:pPr>
            <a:r>
              <a:t>The fragmentation of our IT systems and processes across regional stores has not only affected incident resolution but also problem and change management.</a:t>
            </a:r>
          </a:p>
          <a:p>
            <a:pPr>
              <a:spcAft>
                <a:spcPts val="400"/>
              </a:spcAft>
              <a:defRPr sz="1600">
                <a:solidFill>
                  <a:srgbClr val="FFC000"/>
                </a:solidFill>
              </a:defRPr>
            </a:pPr>
            <a:r>
              <a:t>The current scenario underscores the need for a more integrated, standardized IT governance structure to enhance our IT service management.</a:t>
            </a:r>
          </a:p>
          <a:p>
            <a:pPr>
              <a:spcAft>
                <a:spcPts val="400"/>
              </a:spcAft>
              <a:defRPr sz="1600">
                <a:solidFill>
                  <a:srgbClr val="404040"/>
                </a:solidFill>
              </a:defRPr>
            </a:pPr>
            <a:r>
              <a:t>Potential solutions could include IT system integration, automation of workflow, and improvements in governance as evidenced by Thirdera’s success in the retail industry.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Potential Workflow Automation Enhancements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Introduced a ticketing system automation in 2018 which reduced manual input by 30%</a:t>
            </a:r>
          </a:p>
          <a:p>
            <a:pPr>
              <a:spcAft>
                <a:spcPts val="600"/>
              </a:spcAft>
              <a:defRPr sz="1800">
                <a:solidFill>
                  <a:srgbClr val="404040"/>
                </a:solidFill>
              </a:defRPr>
            </a:pPr>
            <a:r>
              <a:t>Planning to automate software deployment processes in 2027</a:t>
            </a:r>
          </a:p>
          <a:p>
            <a:pPr>
              <a:spcAft>
                <a:spcPts val="600"/>
              </a:spcAft>
              <a:defRPr sz="1800">
                <a:solidFill>
                  <a:srgbClr val="FFC000"/>
                </a:solidFill>
              </a:defRPr>
            </a:pPr>
            <a:r>
              <a:t>Exploring cloud-based automation tools for better system monitoring</a:t>
            </a:r>
          </a:p>
          <a:p>
            <a:pPr>
              <a:spcAft>
                <a:spcPts val="600"/>
              </a:spcAft>
              <a:defRPr sz="1800">
                <a:solidFill>
                  <a:srgbClr val="404040"/>
                </a:solidFill>
              </a:defRPr>
            </a:pPr>
            <a:r>
              <a:t>Considering RPA for routine tasks within the IT Service Desk</a:t>
            </a:r>
          </a:p>
          <a:p>
            <a:pPr>
              <a:spcAft>
                <a:spcPts val="600"/>
              </a:spcAft>
              <a:defRPr sz="1800">
                <a:solidFill>
                  <a:srgbClr val="404040"/>
                </a:solidFill>
              </a:defRPr>
            </a:pPr>
            <a:r>
              <a:t>Identified potential for automation in Data Backup and Recovery processes</a:t>
            </a:r>
          </a:p>
          <a:p>
            <a:pPr>
              <a:spcAft>
                <a:spcPts val="600"/>
              </a:spcAft>
              <a:defRPr sz="1800">
                <a:solidFill>
                  <a:srgbClr val="FFC000"/>
                </a:solidFill>
              </a:defRPr>
            </a:pPr>
            <a:r>
              <a:t>A pilot project for Network Operations automation is planned for Q3, 2026</a:t>
            </a:r>
          </a:p>
          <a:p>
            <a:pPr>
              <a:spcAft>
                <a:spcPts val="600"/>
              </a:spcAft>
              <a:defRPr sz="1800">
                <a:solidFill>
                  <a:srgbClr val="404040"/>
                </a:solidFill>
              </a:defRPr>
            </a:pPr>
            <a:r>
              <a:t>ITIL processes are being evaluated for possible automation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System Integration Opportunities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2020, we integrated our CRM with the e-commerce platform</a:t>
            </a:r>
          </a:p>
          <a:p>
            <a:pPr>
              <a:spcAft>
                <a:spcPts val="600"/>
              </a:spcAft>
              <a:defRPr sz="1800">
                <a:solidFill>
                  <a:srgbClr val="404040"/>
                </a:solidFill>
              </a:defRPr>
            </a:pPr>
            <a:r>
              <a:t>Looking at options to integrate POS systems with inventory management</a:t>
            </a:r>
          </a:p>
          <a:p>
            <a:pPr>
              <a:spcAft>
                <a:spcPts val="600"/>
              </a:spcAft>
              <a:defRPr sz="1800">
                <a:solidFill>
                  <a:srgbClr val="FFC000"/>
                </a:solidFill>
              </a:defRPr>
            </a:pPr>
            <a:r>
              <a:t>Exploring API-based integration between ITSM tool and ERP system</a:t>
            </a:r>
          </a:p>
          <a:p>
            <a:pPr>
              <a:spcAft>
                <a:spcPts val="600"/>
              </a:spcAft>
              <a:defRPr sz="1800">
                <a:solidFill>
                  <a:srgbClr val="404040"/>
                </a:solidFill>
              </a:defRPr>
            </a:pPr>
            <a:r>
              <a:t>Identified potential for integration between e-commerce platform and logistics systems</a:t>
            </a:r>
          </a:p>
          <a:p>
            <a:pPr>
              <a:spcAft>
                <a:spcPts val="600"/>
              </a:spcAft>
              <a:defRPr sz="1800">
                <a:solidFill>
                  <a:srgbClr val="404040"/>
                </a:solidFill>
              </a:defRPr>
            </a:pPr>
            <a:r>
              <a:t>In Q2 2025, we integrated our HR system with our IT Service Management tool</a:t>
            </a:r>
          </a:p>
          <a:p>
            <a:pPr>
              <a:spcAft>
                <a:spcPts val="600"/>
              </a:spcAft>
              <a:defRPr sz="1800">
                <a:solidFill>
                  <a:srgbClr val="FFC000"/>
                </a:solidFill>
              </a:defRPr>
            </a:pPr>
            <a:r>
              <a:t>Considering the integration of our ITSM tool with our Project Management tool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By strengthening our IT governance, automating workflows, and integrating systems, we can significantly improve our management of IT incidents, problems, and changes. Let's leverage these insights to make informed strategic decisions for our IT operations in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