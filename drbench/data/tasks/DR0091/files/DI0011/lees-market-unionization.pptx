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7030A0"/>
                </a:solidFill>
              </a:defRPr>
            </a:pPr>
            <a:r>
              <a:t>Employee Unionization Trends at Lee's Market</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The purpose of this presentation is to analyze the recent trends in employee unionization at Lee's Market. Our focus will be on evaluating the percentage of employees who were part of a union as of Q2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Evolution of Employee Unionization</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Unionization efforts began in the company in the early 2000s</a:t>
            </a:r>
          </a:p>
          <a:p>
            <a:pPr>
              <a:spcAft>
                <a:spcPts val="400"/>
              </a:spcAft>
              <a:defRPr sz="1600">
                <a:solidFill>
                  <a:srgbClr val="404040"/>
                </a:solidFill>
              </a:defRPr>
            </a:pPr>
            <a:r>
              <a:t>By 2010, 30% of employees were part of a union</a:t>
            </a:r>
          </a:p>
          <a:p>
            <a:pPr>
              <a:spcAft>
                <a:spcPts val="400"/>
              </a:spcAft>
              <a:defRPr sz="1600">
                <a:solidFill>
                  <a:srgbClr val="FFC000"/>
                </a:solidFill>
              </a:defRPr>
            </a:pPr>
            <a:r>
              <a:t>In 2015, the company reached a peak of 45% unionization</a:t>
            </a:r>
          </a:p>
          <a:p>
            <a:pPr>
              <a:spcAft>
                <a:spcPts val="400"/>
              </a:spcAft>
              <a:defRPr sz="1600">
                <a:solidFill>
                  <a:srgbClr val="404040"/>
                </a:solidFill>
              </a:defRPr>
            </a:pPr>
            <a:r>
              <a:t>Unionization decreased to 35% in 2020 following changes in company policy</a:t>
            </a:r>
          </a:p>
          <a:p>
            <a:pPr>
              <a:spcAft>
                <a:spcPts val="400"/>
              </a:spcAft>
              <a:defRPr sz="1600">
                <a:solidFill>
                  <a:srgbClr val="404040"/>
                </a:solidFill>
              </a:defRPr>
            </a:pPr>
            <a:r>
              <a:t>As of 2025, management implemented new strategies to maintain a healthy relationship with unions</a:t>
            </a:r>
          </a:p>
          <a:p>
            <a:pPr>
              <a:spcAft>
                <a:spcPts val="400"/>
              </a:spcAft>
              <a:defRPr sz="1600">
                <a:solidFill>
                  <a:srgbClr val="FFC000"/>
                </a:solidFill>
              </a:defRPr>
            </a:pPr>
            <a:r>
              <a:t>Unions have played a significant role in shaping employee benefits and wage structures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Unionized Employee Percentage - Q2 2026</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total number of employees in Q2 2026 was 5,000</a:t>
            </a:r>
          </a:p>
          <a:p>
            <a:pPr>
              <a:spcAft>
                <a:spcPts val="600"/>
              </a:spcAft>
              <a:defRPr sz="1800">
                <a:solidFill>
                  <a:srgbClr val="404040"/>
                </a:solidFill>
              </a:defRPr>
            </a:pPr>
            <a:r>
              <a:t>A significant percentage of employees were part of the retail department</a:t>
            </a:r>
          </a:p>
          <a:p>
            <a:pPr>
              <a:spcAft>
                <a:spcPts val="600"/>
              </a:spcAft>
              <a:defRPr sz="1800">
                <a:solidFill>
                  <a:srgbClr val="FFC000"/>
                </a:solidFill>
              </a:defRPr>
            </a:pPr>
            <a:r>
              <a:t>The customer service department had the lowest number of unionized employees</a:t>
            </a:r>
          </a:p>
          <a:p>
            <a:pPr>
              <a:spcAft>
                <a:spcPts val="600"/>
              </a:spcAft>
              <a:defRPr sz="1800">
                <a:solidFill>
                  <a:srgbClr val="404040"/>
                </a:solidFill>
              </a:defRPr>
            </a:pPr>
            <a:r>
              <a:t>Unionized employees were primarily full-time rather than part-time</a:t>
            </a:r>
          </a:p>
          <a:p>
            <a:pPr>
              <a:spcAft>
                <a:spcPts val="600"/>
              </a:spcAft>
              <a:defRPr sz="1800">
                <a:solidFill>
                  <a:srgbClr val="404040"/>
                </a:solidFill>
              </a:defRPr>
            </a:pPr>
            <a:r>
              <a:t>The average age of unionized employees was 35 years</a:t>
            </a:r>
          </a:p>
          <a:p>
            <a:pPr>
              <a:spcAft>
                <a:spcPts val="600"/>
              </a:spcAft>
              <a:defRPr sz="1800">
                <a:solidFill>
                  <a:srgbClr val="FFC000"/>
                </a:solidFill>
              </a:defRPr>
            </a:pPr>
            <a:r>
              <a:t>The gender distribution among unionized employees was nearly equal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Impact of Unionization on Employee Satisfaction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Employee satisfaction surveys indicate a positive correlation with unionization</a:t>
            </a:r>
          </a:p>
          <a:p>
            <a:pPr>
              <a:spcAft>
                <a:spcPts val="600"/>
              </a:spcAft>
              <a:defRPr sz="1800">
                <a:solidFill>
                  <a:srgbClr val="404040"/>
                </a:solidFill>
              </a:defRPr>
            </a:pPr>
            <a:r>
              <a:t>Unionized employees reported higher job security</a:t>
            </a:r>
          </a:p>
          <a:p>
            <a:pPr>
              <a:spcAft>
                <a:spcPts val="600"/>
              </a:spcAft>
              <a:defRPr sz="1800">
                <a:solidFill>
                  <a:srgbClr val="FFC000"/>
                </a:solidFill>
              </a:defRPr>
            </a:pPr>
            <a:r>
              <a:t>Non-unionized employees had higher flexibility in job roles</a:t>
            </a:r>
          </a:p>
          <a:p>
            <a:pPr>
              <a:spcAft>
                <a:spcPts val="600"/>
              </a:spcAft>
              <a:defRPr sz="1800">
                <a:solidFill>
                  <a:srgbClr val="404040"/>
                </a:solidFill>
              </a:defRPr>
            </a:pPr>
            <a:r>
              <a:t>Overall job satisfaction was not significantly different between unionized and non-unionized employees</a:t>
            </a:r>
          </a:p>
          <a:p>
            <a:pPr>
              <a:spcAft>
                <a:spcPts val="600"/>
              </a:spcAft>
              <a:defRPr sz="1800">
                <a:solidFill>
                  <a:srgbClr val="404040"/>
                </a:solidFill>
              </a:defRPr>
            </a:pPr>
            <a:r>
              <a:t>Unionized employees reported increased satisfaction with dispute resolution processes</a:t>
            </a:r>
          </a:p>
          <a:p>
            <a:pPr>
              <a:spcAft>
                <a:spcPts val="600"/>
              </a:spcAft>
              <a:defRPr sz="1800">
                <a:solidFill>
                  <a:srgbClr val="FFC000"/>
                </a:solidFill>
              </a:defRPr>
            </a:pPr>
            <a:r>
              <a:t>Both groups indicated room for improvement in communication with management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C000"/>
                </a:solidFill>
              </a:defRPr>
            </a:pPr>
            <a:r>
              <a:t>Understanding employee unionization trends at Lee's Market is critical for our strategic planning. Further analysis will focus on the implications of these trends for our employee relations strategy.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