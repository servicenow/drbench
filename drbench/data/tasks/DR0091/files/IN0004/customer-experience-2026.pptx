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FF8C00"/>
                </a:solidFill>
              </a:defRPr>
            </a:pPr>
            <a:r>
              <a:t>Enhancing Customer Experience by 2026</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strive to continue our growth, it's crucial that we focus on enhancing the customer experience to foster customer loyalty. This presentation will discuss potential improvements to our customer service that will make our customers feel more recognized and valued.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Current State of Customer Service Interactions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Our system identified accounts experiencing service issues and proactively sent out alerts in Q3 2025</a:t>
            </a:r>
          </a:p>
          <a:p>
            <a:pPr>
              <a:spcAft>
                <a:spcPts val="400"/>
              </a:spcAft>
              <a:defRPr sz="1600">
                <a:solidFill>
                  <a:srgbClr val="404040"/>
                </a:solidFill>
              </a:defRPr>
            </a:pPr>
            <a:r>
              <a:t>The proactive alerts were sent via text/app notifications, enhancing our communication strategy</a:t>
            </a:r>
          </a:p>
          <a:p>
            <a:pPr>
              <a:spcAft>
                <a:spcPts val="400"/>
              </a:spcAft>
              <a:defRPr sz="1600">
                <a:solidFill>
                  <a:srgbClr val="4682B4"/>
                </a:solidFill>
              </a:defRPr>
            </a:pPr>
            <a:r>
              <a:t>The implementation of these proactive alerts resulted in a noticeable decrease in churn rate</a:t>
            </a:r>
          </a:p>
          <a:p>
            <a:pPr>
              <a:spcAft>
                <a:spcPts val="400"/>
              </a:spcAft>
              <a:defRPr sz="1600">
                <a:solidFill>
                  <a:srgbClr val="404040"/>
                </a:solidFill>
              </a:defRPr>
            </a:pPr>
            <a:r>
              <a:t>Specifically, the monthly churn rate for Q3 2025 was 0.9% for these accounts, marking a 33% reduction</a:t>
            </a:r>
          </a:p>
          <a:p>
            <a:pPr>
              <a:spcAft>
                <a:spcPts val="400"/>
              </a:spcAft>
              <a:defRPr sz="1600">
                <a:solidFill>
                  <a:srgbClr val="404040"/>
                </a:solidFill>
              </a:defRPr>
            </a:pPr>
            <a:r>
              <a:t>This decrease is compared to the 1.35% rate for accounts that identified issues manually</a:t>
            </a:r>
          </a:p>
          <a:p>
            <a:pPr>
              <a:spcAft>
                <a:spcPts val="400"/>
              </a:spcAft>
              <a:defRPr sz="1600">
                <a:solidFill>
                  <a:srgbClr val="4682B4"/>
                </a:solidFill>
              </a:defRPr>
            </a:pPr>
            <a:r>
              <a:t>The positive impact of proactive communication indicates a need for further investment</a:t>
            </a:r>
          </a:p>
          <a:p>
            <a:pPr>
              <a:spcAft>
                <a:spcPts val="400"/>
              </a:spcAft>
              <a:defRPr sz="1600">
                <a:solidFill>
                  <a:srgbClr val="404040"/>
                </a:solidFill>
              </a:defRPr>
            </a:pPr>
            <a:r>
              <a:t>An automated alert system is planned for implementation in Q1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Identifying Opportunities for Enhancing Customer Recognition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Implemented a loyalty program with over 20,000 active members</a:t>
            </a:r>
          </a:p>
          <a:p>
            <a:pPr>
              <a:spcAft>
                <a:spcPts val="600"/>
              </a:spcAft>
              <a:defRPr sz="1800">
                <a:solidFill>
                  <a:srgbClr val="404040"/>
                </a:solidFill>
              </a:defRPr>
            </a:pPr>
            <a:r>
              <a:t>Regular customer feedback surveys are conducted to gauge satisfaction</a:t>
            </a:r>
          </a:p>
          <a:p>
            <a:pPr>
              <a:spcAft>
                <a:spcPts val="600"/>
              </a:spcAft>
              <a:defRPr sz="1800">
                <a:solidFill>
                  <a:srgbClr val="4682B4"/>
                </a:solidFill>
              </a:defRPr>
            </a:pPr>
            <a:r>
              <a:t>The company has recently invested in AI technology for improving customer interactions</a:t>
            </a:r>
          </a:p>
          <a:p>
            <a:pPr>
              <a:spcAft>
                <a:spcPts val="600"/>
              </a:spcAft>
              <a:defRPr sz="1800">
                <a:solidFill>
                  <a:srgbClr val="404040"/>
                </a:solidFill>
              </a:defRPr>
            </a:pPr>
            <a:r>
              <a:t>Social media platforms are used for promoting special offers and new products</a:t>
            </a:r>
          </a:p>
          <a:p>
            <a:pPr>
              <a:spcAft>
                <a:spcPts val="600"/>
              </a:spcAft>
              <a:defRPr sz="1800">
                <a:solidFill>
                  <a:srgbClr val="404040"/>
                </a:solidFill>
              </a:defRPr>
            </a:pPr>
            <a:r>
              <a:t>The marketing department works closely with customer service to ensure unified messaging</a:t>
            </a:r>
          </a:p>
          <a:p>
            <a:pPr>
              <a:spcAft>
                <a:spcPts val="600"/>
              </a:spcAft>
              <a:defRPr sz="1800">
                <a:solidFill>
                  <a:srgbClr val="4682B4"/>
                </a:solidFill>
              </a:defRPr>
            </a:pPr>
            <a:r>
              <a:t>A customer-centric culture is promoted within the organization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Proposed Customer Service Improvements for 2026</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Customer service training will be expanded to cover new product lines</a:t>
            </a:r>
          </a:p>
          <a:p>
            <a:pPr>
              <a:spcAft>
                <a:spcPts val="600"/>
              </a:spcAft>
              <a:defRPr sz="1800">
                <a:solidFill>
                  <a:srgbClr val="404040"/>
                </a:solidFill>
              </a:defRPr>
            </a:pPr>
            <a:r>
              <a:t>A new CRM system is being considered for implementation in 2023</a:t>
            </a:r>
          </a:p>
          <a:p>
            <a:pPr>
              <a:spcAft>
                <a:spcPts val="600"/>
              </a:spcAft>
              <a:defRPr sz="1800">
                <a:solidFill>
                  <a:srgbClr val="4682B4"/>
                </a:solidFill>
              </a:defRPr>
            </a:pPr>
            <a:r>
              <a:t>The company plans to expand the customer service team by 10% in the next 5 years</a:t>
            </a:r>
          </a:p>
          <a:p>
            <a:pPr>
              <a:spcAft>
                <a:spcPts val="600"/>
              </a:spcAft>
              <a:defRPr sz="1800">
                <a:solidFill>
                  <a:srgbClr val="404040"/>
                </a:solidFill>
              </a:defRPr>
            </a:pPr>
            <a:r>
              <a:t>Efforts are underway to reduce the average call handling time by 15%</a:t>
            </a:r>
          </a:p>
          <a:p>
            <a:pPr>
              <a:spcAft>
                <a:spcPts val="600"/>
              </a:spcAft>
              <a:defRPr sz="1800">
                <a:solidFill>
                  <a:srgbClr val="404040"/>
                </a:solidFill>
              </a:defRPr>
            </a:pPr>
            <a:r>
              <a:t>The company aims to increase the first call resolution rate to 80% by 2026</a:t>
            </a:r>
          </a:p>
          <a:p>
            <a:pPr>
              <a:spcAft>
                <a:spcPts val="600"/>
              </a:spcAft>
              <a:defRPr sz="1800">
                <a:solidFill>
                  <a:srgbClr val="4682B4"/>
                </a:solidFill>
              </a:defRPr>
            </a:pPr>
            <a:r>
              <a:t>An upgrade to the existing AI technology is planned for 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FF8C0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4682B4"/>
                </a:solidFill>
              </a:defRPr>
            </a:pPr>
            <a:r>
              <a:t>By improving our acknowledgment of customers and enhancing their experience, we set the stage for superior financial results. Let's take these insights and work towards refining our customer service strategies for a more personalized, value-driven approach by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