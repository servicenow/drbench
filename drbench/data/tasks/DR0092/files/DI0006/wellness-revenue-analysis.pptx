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Corporate Wellness Revenue Analysis FY2025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be exploring the significance of corporate wellness contracts to our overall revenue in FY2025. This will help us understand the financial impact of these contracts and guide future strategic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FY2025 Revenue Streams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Telemedicine consultations contributed to 45% of total revenue</a:t>
            </a:r>
          </a:p>
          <a:p>
            <a:pPr>
              <a:spcAft>
                <a:spcPts val="400"/>
              </a:spcAft>
              <a:defRPr sz="1600">
                <a:solidFill>
                  <a:srgbClr val="404040"/>
                </a:solidFill>
              </a:defRPr>
            </a:pPr>
            <a:r>
              <a:t>Mental health and counselling services made up 20% of the revenue</a:t>
            </a:r>
          </a:p>
          <a:p>
            <a:pPr>
              <a:spcAft>
                <a:spcPts val="400"/>
              </a:spcAft>
              <a:defRPr sz="1600">
                <a:solidFill>
                  <a:srgbClr val="FF8C00"/>
                </a:solidFill>
              </a:defRPr>
            </a:pPr>
            <a:r>
              <a:t>Remote patient monitoring services accounted for 15% of the revenue</a:t>
            </a:r>
          </a:p>
          <a:p>
            <a:pPr>
              <a:spcAft>
                <a:spcPts val="400"/>
              </a:spcAft>
              <a:defRPr sz="1600">
                <a:solidFill>
                  <a:srgbClr val="404040"/>
                </a:solidFill>
              </a:defRPr>
            </a:pPr>
            <a:r>
              <a:t>Medical equipment sales contributed to 10% of the total revenue</a:t>
            </a:r>
          </a:p>
          <a:p>
            <a:pPr>
              <a:spcAft>
                <a:spcPts val="400"/>
              </a:spcAft>
              <a:defRPr sz="1600">
                <a:solidFill>
                  <a:srgbClr val="404040"/>
                </a:solidFill>
              </a:defRPr>
            </a:pPr>
            <a:r>
              <a:t>10% of revenue came from miscellaneous services, like health education and training</a:t>
            </a:r>
          </a:p>
          <a:p>
            <a:pPr>
              <a:spcAft>
                <a:spcPts val="400"/>
              </a:spcAft>
              <a:defRPr sz="1600">
                <a:solidFill>
                  <a:srgbClr val="FF8C00"/>
                </a:solidFill>
              </a:defRPr>
            </a:pPr>
            <a:r>
              <a:t>Revenue from software and technology solutions remained stable, but showed potential for growth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Financial Contribution of Corporate Wellness Contracts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Corporate wellness programs included telemedicine, mental health, and health education services</a:t>
            </a:r>
          </a:p>
          <a:p>
            <a:pPr>
              <a:spcAft>
                <a:spcPts val="600"/>
              </a:spcAft>
              <a:defRPr sz="1800">
                <a:solidFill>
                  <a:srgbClr val="404040"/>
                </a:solidFill>
              </a:defRPr>
            </a:pPr>
            <a:r>
              <a:t>There was a steady YOY growth in corporate wellness contract sign-ups</a:t>
            </a:r>
          </a:p>
          <a:p>
            <a:pPr>
              <a:spcAft>
                <a:spcPts val="600"/>
              </a:spcAft>
              <a:defRPr sz="1800">
                <a:solidFill>
                  <a:srgbClr val="FF8C00"/>
                </a:solidFill>
              </a:defRPr>
            </a:pPr>
            <a:r>
              <a:t>Significant investments were made into expanding corporate wellness offerings</a:t>
            </a:r>
          </a:p>
          <a:p>
            <a:pPr>
              <a:spcAft>
                <a:spcPts val="600"/>
              </a:spcAft>
              <a:defRPr sz="1800">
                <a:solidFill>
                  <a:srgbClr val="404040"/>
                </a:solidFill>
              </a:defRPr>
            </a:pPr>
            <a:r>
              <a:t>Majority of corporate wellness contracts were annual renewals</a:t>
            </a:r>
          </a:p>
          <a:p>
            <a:pPr>
              <a:spcAft>
                <a:spcPts val="600"/>
              </a:spcAft>
              <a:defRPr sz="1800">
                <a:solidFill>
                  <a:srgbClr val="404040"/>
                </a:solidFill>
              </a:defRPr>
            </a:pPr>
            <a:r>
              <a:t>The highest-grossing corporate wellness contract in FY2025 was with TechCorp Inc.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Comparative Analysis of Revenue Sources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Telemedicine consultations showed the highest profit margins</a:t>
            </a:r>
          </a:p>
          <a:p>
            <a:pPr>
              <a:spcAft>
                <a:spcPts val="600"/>
              </a:spcAft>
              <a:defRPr sz="1800">
                <a:solidFill>
                  <a:srgbClr val="404040"/>
                </a:solidFill>
              </a:defRPr>
            </a:pPr>
            <a:r>
              <a:t>Medical equipment sales had the lowest profit margins, suggesting a need for cost optimization</a:t>
            </a:r>
          </a:p>
          <a:p>
            <a:pPr>
              <a:spcAft>
                <a:spcPts val="600"/>
              </a:spcAft>
              <a:defRPr sz="1800">
                <a:solidFill>
                  <a:srgbClr val="FF8C00"/>
                </a:solidFill>
              </a:defRPr>
            </a:pPr>
            <a:r>
              <a:t>Revenue from mental health and counselling services showed a steady upward trend</a:t>
            </a:r>
          </a:p>
          <a:p>
            <a:pPr>
              <a:spcAft>
                <a:spcPts val="600"/>
              </a:spcAft>
              <a:defRPr sz="1800">
                <a:solidFill>
                  <a:srgbClr val="404040"/>
                </a:solidFill>
              </a:defRPr>
            </a:pPr>
            <a:r>
              <a:t>Remote patient monitoring services had a high customer retention rate</a:t>
            </a:r>
          </a:p>
          <a:p>
            <a:pPr>
              <a:spcAft>
                <a:spcPts val="600"/>
              </a:spcAft>
              <a:defRPr sz="1800">
                <a:solidFill>
                  <a:srgbClr val="404040"/>
                </a:solidFill>
              </a:defRPr>
            </a:pPr>
            <a:r>
              <a:t>Health education and training services showed potential for increased profitability with better marketing</a:t>
            </a:r>
          </a:p>
          <a:p>
            <a:pPr>
              <a:spcAft>
                <a:spcPts val="600"/>
              </a:spcAft>
              <a:defRPr sz="1800">
                <a:solidFill>
                  <a:srgbClr val="FF8C00"/>
                </a:solidFill>
              </a:defRPr>
            </a:pPr>
            <a:r>
              <a:t>Software and technology solutions had a moderate profit margin and steady growth 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Our corporate wellness contracts have demonstrated a notable influence on our FY2025 revenue. Moving forward, we should focus on expanding this sector while maintaining diversification in our revenue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