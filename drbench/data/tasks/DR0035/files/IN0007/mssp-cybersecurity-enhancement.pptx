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B050"/>
                </a:solidFill>
              </a:defRPr>
            </a:pPr>
            <a:r>
              <a:t>Enhancing Cybersecurity with MSSPs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continue to expand our digital footprint, it's crucial we consider strategic partnerships to augment our cybersecurity infrastructure. This presentation explores how Managed Security Service Providers (MSSPs) can help us alleviate internal resource constraints and enhance our threat management.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Current Cybersecurity Landscape at Lee's Market</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From March to June 2025, our IT and Security team dealt with the introduction of three significant regulatory changes relating to data privacy.</a:t>
            </a:r>
          </a:p>
          <a:p>
            <a:pPr>
              <a:spcAft>
                <a:spcPts val="400"/>
              </a:spcAft>
              <a:defRPr sz="1600">
                <a:solidFill>
                  <a:srgbClr val="404040"/>
                </a:solidFill>
              </a:defRPr>
            </a:pPr>
            <a:r>
              <a:t>The new mandates presented additional challenges to our already resource-constrained internal security team.</a:t>
            </a:r>
          </a:p>
          <a:p>
            <a:pPr>
              <a:spcAft>
                <a:spcPts val="400"/>
              </a:spcAft>
              <a:defRPr sz="1600">
                <a:solidFill>
                  <a:srgbClr val="FF8243"/>
                </a:solidFill>
              </a:defRPr>
            </a:pPr>
            <a:r>
              <a:t>In the current cyber threat environment, where 80% of retailers have experienced cyber attacks, our in-house capabilities may not suffice.</a:t>
            </a:r>
          </a:p>
          <a:p>
            <a:pPr>
              <a:spcAft>
                <a:spcPts val="400"/>
              </a:spcAft>
              <a:defRPr sz="1600">
                <a:solidFill>
                  <a:srgbClr val="404040"/>
                </a:solidFill>
              </a:defRPr>
            </a:pPr>
            <a:r>
              <a:t>A failure to effectively manage these threats can result in regulatory fines, experienced by 33% of retailers following a cyberattack, and reputational damage, incurred by 53% of retailers.</a:t>
            </a:r>
          </a:p>
          <a:p>
            <a:pPr>
              <a:spcAft>
                <a:spcPts val="400"/>
              </a:spcAft>
              <a:defRPr sz="1600">
                <a:solidFill>
                  <a:srgbClr val="404040"/>
                </a:solidFill>
              </a:defRPr>
            </a:pPr>
            <a:r>
              <a:t>Engaging MSSPs could provide a robust and dedicated resource that responds to these evolving threats and regulations more dynamically.</a:t>
            </a:r>
          </a:p>
          <a:p>
            <a:pPr>
              <a:spcAft>
                <a:spcPts val="400"/>
              </a:spcAft>
              <a:defRPr sz="1600">
                <a:solidFill>
                  <a:srgbClr val="FF8243"/>
                </a:solidFill>
              </a:defRPr>
            </a:pPr>
            <a:r>
              <a:t>By leveraging MSSPs, we can reduce our risk exposure, ensuring operational continuity and mitigating potential reputational damage.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Prospects and Benefits of Adopting MSSPs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MSSPs offer 24/7 security monitoring and threat detection capabilities</a:t>
            </a:r>
          </a:p>
          <a:p>
            <a:pPr>
              <a:spcAft>
                <a:spcPts val="600"/>
              </a:spcAft>
              <a:defRPr sz="1800">
                <a:solidFill>
                  <a:srgbClr val="404040"/>
                </a:solidFill>
              </a:defRPr>
            </a:pPr>
            <a:r>
              <a:t>They provide access to a broader pool of cybersecurity expertise</a:t>
            </a:r>
          </a:p>
          <a:p>
            <a:pPr>
              <a:spcAft>
                <a:spcPts val="600"/>
              </a:spcAft>
              <a:defRPr sz="1800">
                <a:solidFill>
                  <a:srgbClr val="FF8243"/>
                </a:solidFill>
              </a:defRPr>
            </a:pPr>
            <a:r>
              <a:t>MSSPs can help maintain compliance with evolving regulatory requirements</a:t>
            </a:r>
          </a:p>
          <a:p>
            <a:pPr>
              <a:spcAft>
                <a:spcPts val="600"/>
              </a:spcAft>
              <a:defRPr sz="1800">
                <a:solidFill>
                  <a:srgbClr val="404040"/>
                </a:solidFill>
              </a:defRPr>
            </a:pPr>
            <a:r>
              <a:t>They offer cost-effectiveness compared to maintaining a large in-house security team</a:t>
            </a:r>
          </a:p>
          <a:p>
            <a:pPr>
              <a:spcAft>
                <a:spcPts val="600"/>
              </a:spcAft>
              <a:defRPr sz="1800">
                <a:solidFill>
                  <a:srgbClr val="404040"/>
                </a:solidFill>
              </a:defRPr>
            </a:pPr>
            <a:r>
              <a:t>MSSPs also provide scalability as the company's digital footprint expands</a:t>
            </a:r>
          </a:p>
          <a:p>
            <a:pPr>
              <a:spcAft>
                <a:spcPts val="600"/>
              </a:spcAft>
              <a:defRPr sz="1800">
                <a:solidFill>
                  <a:srgbClr val="FF8243"/>
                </a:solidFill>
              </a:defRPr>
            </a:pPr>
            <a:r>
              <a:t>They allow the internal IT team to focus on strategic initiatives</a:t>
            </a:r>
          </a:p>
          <a:p>
            <a:pPr>
              <a:spcAft>
                <a:spcPts val="600"/>
              </a:spcAft>
              <a:defRPr sz="1800">
                <a:solidFill>
                  <a:srgbClr val="404040"/>
                </a:solidFill>
              </a:defRPr>
            </a:pPr>
            <a:r>
              <a:t>MSSPs can provide disaster recovery and business continuity planning services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Projected Outcomes: Threat Management, Compliance and Trust</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Improved threat detection capabilities could lead to a reduction in successful cyberattacks</a:t>
            </a:r>
          </a:p>
          <a:p>
            <a:pPr>
              <a:spcAft>
                <a:spcPts val="600"/>
              </a:spcAft>
              <a:defRPr sz="1800">
                <a:solidFill>
                  <a:srgbClr val="404040"/>
                </a:solidFill>
              </a:defRPr>
            </a:pPr>
            <a:r>
              <a:t>Enhanced compliance management could minimize regulatory fines</a:t>
            </a:r>
          </a:p>
          <a:p>
            <a:pPr>
              <a:spcAft>
                <a:spcPts val="600"/>
              </a:spcAft>
              <a:defRPr sz="1800">
                <a:solidFill>
                  <a:srgbClr val="FF8243"/>
                </a:solidFill>
              </a:defRPr>
            </a:pPr>
            <a:r>
              <a:t>Increased customer trust due to stronger data protection measures</a:t>
            </a:r>
          </a:p>
          <a:p>
            <a:pPr>
              <a:spcAft>
                <a:spcPts val="600"/>
              </a:spcAft>
              <a:defRPr sz="1800">
                <a:solidFill>
                  <a:srgbClr val="404040"/>
                </a:solidFill>
              </a:defRPr>
            </a:pPr>
            <a:r>
              <a:t>Better disaster recovery planning can shorten response time to security incidents</a:t>
            </a:r>
          </a:p>
          <a:p>
            <a:pPr>
              <a:spcAft>
                <a:spcPts val="600"/>
              </a:spcAft>
              <a:defRPr sz="1800">
                <a:solidFill>
                  <a:srgbClr val="404040"/>
                </a:solidFill>
              </a:defRPr>
            </a:pPr>
            <a:r>
              <a:t>The ability to quickly scale security measures as the company expands</a:t>
            </a:r>
          </a:p>
          <a:p>
            <a:pPr>
              <a:spcAft>
                <a:spcPts val="600"/>
              </a:spcAft>
              <a:defRPr sz="1800">
                <a:solidFill>
                  <a:srgbClr val="FF8243"/>
                </a:solidFill>
              </a:defRPr>
            </a:pPr>
            <a:r>
              <a:t>Greater focus on strategic initiatives by the internal IT team</a:t>
            </a:r>
          </a:p>
          <a:p>
            <a:pPr>
              <a:spcAft>
                <a:spcPts val="600"/>
              </a:spcAft>
              <a:defRPr sz="1800">
                <a:solidFill>
                  <a:srgbClr val="404040"/>
                </a:solidFill>
              </a:defRPr>
            </a:pPr>
            <a:r>
              <a:t>Potential cost savings through outsourcing certain security tasks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243"/>
                </a:solidFill>
              </a:defRPr>
            </a:pPr>
            <a:r>
              <a:t>Adopting MSSPs can efficiently address our cybersecurity challenges, ensuring robust threat management and regulatory compliance. This strategic move can also significantly improve our customer trust and loyalty, integral to Lee's Market's success.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